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503508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[morning/afternoon].  My name is Daniyar Krug and today I will defend my master's thesis on digital inpainting of historic paintings using deep learning.  This work compares three convolutional architectures under an identical training protocol and arrives at a counter-intuitive ranking that I will walk through in the next ~15 minutes.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motivating points: paintings degrade; restoration is expensive and irreversible; digital restoration provides a non-destructive sandbox.  The core ML problem is image inpainting on irregular masks, which is where modern deep methods shine compared to classical diffusion-based approaches.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research questions.  Note that all four are comparative: we are not asking whether any individual model 'works', we are asking which of three competing architectures wins under a fairness contract — same data, same loss, same recipe.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four contributions carry through every chapter of the thesis.  The most important is C3 — the comparison itself — because the result contradicts the implicit consensus that PConv is the default mask-aware operator.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takeaways: (1) classical methods fail on large textured holes; (2) deep methods solved free-form holes by 2018–2019; (3) the application to art specifically is comparatively under-explored.  Our work fills exactly that gap.</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PConv encoder-decoder shown on the left is the topological template.  Both baselines reuse the same skeleton — same number of stages, same channel widths, same skip connections — and swap only the convolution operator.  This guarantees that any quality gap is attributable to the operator and not to depth or capacity.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loss is the five-term composite from Liu et al.  We kept the original weights with one deliberate change: the style weight is reduced from 120 to 50, which we found prevents the over-smoothed brushwork that the heavier weight produced on paintings in our preliminary experiments.  The same weights are used for all three networks.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WikiArt is large enough to train from scratch.  The synthetic damage protocol is the second contribution: four primitives at three difficulty levels gives twelve evaluation cells per model.  Crucially, the test masks are deterministic, so the three models all see exactly the same corrupted inputs.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the hyperparameters.  They are identical across all three experiments — the only difference between the three runs is the model definition file.  Twelve epochs is short by the standards of the original paper but is what fits in the free-tier compute budget; this is acknowledged as a limitation.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evaluation is one-shot: 47k pairs through all three models, all metrics computed once.  Paired Wilcoxon is appropriate because every model sees the same pairs.  Bonferroni correction guards against the three-way comparison.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surprise.  PConv U-Net — the most-cited irregular-mask inpainting architecture — comes last on every metric.  Vanilla U-Net, the simplest possible baseline, beats it by 1.7 dB PSNR.  Gated convolution wins by another half a dB on top of that.  The next three slides confirm that this ranking is stable across damage severity and damage type.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Per-difficulty breakdown.  The ranking is monotone — Gated, Vanilla, PConv — and stable across light, medium, heavy.  All three models degrade by roughly six decibels from light to heavy, which is the expected scaling.</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Per-damage breakdown.  Cracks and brushstrokes are easier than paint-loss blobs and stains because the thin geometry leaves more valid context near every hole pixel.  Crucially, the architectural ranking is preserved in every one of the twelve cells — the result is not driven by any single damage type.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Five-column figure: original, damaged input, Vanilla, PConv, Gated.  PConv outputs exhibit slight colour-bleed and softening along hole boundaries — that's the over-renormalisation behaviour of partial convolution.  Gated outputs are the sharpest.  Vanilla is surprisingly competitive at lower difficulties.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interlocking explanations for the surprise.  First, PConv binarises confidence by design — by layer four or five the propagated mask is essentially all-ones, so the network loses all spatial confidence information.  Gated conv preserves it.  Second, the explicit renormalisation by valid-area can blow up near sparse valid pixels, producing the colour bleed we see in qualitative results.  Third, the vanilla baseline is unexpectedly strong because painting texture is more regular than natural-image texture.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demo is the fourth contribution.  It runs locally with a single Python command and opens in the browser.  I'd be happy to switch to the live demo at the end of the talk if there is time.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wrap up: the take-home message is the surprising ranking — Gated, then Vanilla, then PConv.  Four contributions, three concrete future directions.  Thank you for your attention; I am happy to take questions.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Anticipated questions and rehearsed answers:</a:t>
            </a:r>
          </a:p>
          <a:p>
            <a:endParaRPr/>
          </a:p>
          <a:p>
            <a:r>
              <a:t>Q: Why only 12 epochs?  A: Free-tier compute budget; we report this as a limitation in Chapter 6.  Longer training would likely benefit PConv proportionally more.</a:t>
            </a:r>
          </a:p>
          <a:p>
            <a:endParaRPr/>
          </a:p>
          <a:p>
            <a:r>
              <a:t>Q: Why not include LaMa / Stable-Diffusion inpainting?  A: Both rely on pretraining at a scale outside the budget of this thesis.  A fine-tuned LaMa is mentioned as future work.</a:t>
            </a:r>
          </a:p>
          <a:p>
            <a:endParaRPr/>
          </a:p>
          <a:p>
            <a:r>
              <a:t>Q: Are the synthetic masks realistic?  A: They are a proxy.  We mitigate by reporting per-damage breakdown; no paired real-damage dataset exists at the required scale.</a:t>
            </a:r>
          </a:p>
          <a:p>
            <a:endParaRPr/>
          </a:p>
          <a:p>
            <a:r>
              <a:t>Q: Why does Gated have ~2× the parameters of PConv?  A: Gated conv duplicates conv weights into feat+gate paths.  We accept this as an architectural property; the comparison claims fairness in training recipe, not in parameter count.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119" cy="6858000"/>
          </a:xfrm>
          <a:prstGeom prst="rect">
            <a:avLst/>
          </a:prstGeom>
          <a:solidFill>
            <a:srgbClr val="103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20000" y="1980000"/>
            <a:ext cx="10752119" cy="1800000"/>
          </a:xfrm>
          <a:prstGeom prst="rect">
            <a:avLst/>
          </a:prstGeom>
          <a:noFill/>
        </p:spPr>
        <p:txBody>
          <a:bodyPr wrap="square">
            <a:spAutoFit/>
          </a:bodyPr>
          <a:lstStyle/>
          <a:p>
            <a:pPr algn="ctr"/>
            <a:r>
              <a:rPr sz="4000" b="1">
                <a:solidFill>
                  <a:srgbClr val="FFFFFF"/>
                </a:solidFill>
              </a:rPr>
              <a:t>Restoration of Historic Artworks
Using Deep Learning-Based Digital Inpainting</a:t>
            </a:r>
          </a:p>
        </p:txBody>
      </p:sp>
      <p:sp>
        <p:nvSpPr>
          <p:cNvPr id="4" name="TextBox 3"/>
          <p:cNvSpPr txBox="1"/>
          <p:nvPr/>
        </p:nvSpPr>
        <p:spPr>
          <a:xfrm>
            <a:off x="619416" y="4320000"/>
            <a:ext cx="10752119" cy="1323439"/>
          </a:xfrm>
          <a:prstGeom prst="rect">
            <a:avLst/>
          </a:prstGeom>
          <a:noFill/>
        </p:spPr>
        <p:txBody>
          <a:bodyPr wrap="square">
            <a:spAutoFit/>
          </a:bodyPr>
          <a:lstStyle/>
          <a:p>
            <a:pPr algn="ctr"/>
            <a:r>
              <a:rPr lang="en-US" sz="2000" dirty="0">
                <a:solidFill>
                  <a:srgbClr val="DDE7F4"/>
                </a:solidFill>
              </a:rPr>
              <a:t>Bachelor</a:t>
            </a:r>
            <a:r>
              <a:rPr sz="2000" dirty="0">
                <a:solidFill>
                  <a:srgbClr val="DDE7F4"/>
                </a:solidFill>
              </a:rPr>
              <a:t>'s Diploma Defense</a:t>
            </a:r>
          </a:p>
          <a:p>
            <a:pPr algn="ctr"/>
            <a:r>
              <a:rPr sz="2000" dirty="0">
                <a:solidFill>
                  <a:srgbClr val="DDE7F4"/>
                </a:solidFill>
              </a:rPr>
              <a:t>Dani</a:t>
            </a:r>
            <a:r>
              <a:rPr lang="en-US" sz="2000" dirty="0">
                <a:solidFill>
                  <a:srgbClr val="DDE7F4"/>
                </a:solidFill>
              </a:rPr>
              <a:t>el</a:t>
            </a:r>
            <a:r>
              <a:rPr sz="2000" dirty="0">
                <a:solidFill>
                  <a:srgbClr val="DDE7F4"/>
                </a:solidFill>
              </a:rPr>
              <a:t> </a:t>
            </a:r>
            <a:r>
              <a:rPr sz="2000" dirty="0" err="1">
                <a:solidFill>
                  <a:srgbClr val="DDE7F4"/>
                </a:solidFill>
              </a:rPr>
              <a:t>Krug</a:t>
            </a:r>
            <a:r>
              <a:rPr lang="en-US" sz="2000" dirty="0" err="1">
                <a:solidFill>
                  <a:srgbClr val="DDE7F4"/>
                </a:solidFill>
              </a:rPr>
              <a:t>lovs</a:t>
            </a:r>
            <a:endParaRPr sz="2000" dirty="0">
              <a:solidFill>
                <a:srgbClr val="DDE7F4"/>
              </a:solidFill>
            </a:endParaRPr>
          </a:p>
          <a:p>
            <a:pPr algn="ctr"/>
            <a:r>
              <a:rPr sz="2000" dirty="0">
                <a:solidFill>
                  <a:srgbClr val="DDE7F4"/>
                </a:solidFill>
              </a:rPr>
              <a:t>Supervisor: </a:t>
            </a:r>
            <a:r>
              <a:rPr lang="en-US" sz="2000" dirty="0">
                <a:solidFill>
                  <a:srgbClr val="DDE7F4"/>
                </a:solidFill>
              </a:rPr>
              <a:t>Usman </a:t>
            </a:r>
            <a:r>
              <a:rPr lang="en-US" sz="2000" dirty="0" err="1">
                <a:solidFill>
                  <a:srgbClr val="DDE7F4"/>
                </a:solidFill>
              </a:rPr>
              <a:t>Sarumi</a:t>
            </a:r>
            <a:endParaRPr sz="2000" dirty="0">
              <a:solidFill>
                <a:srgbClr val="DDE7F4"/>
              </a:solidFill>
            </a:endParaRPr>
          </a:p>
          <a:p>
            <a:pPr algn="ctr"/>
            <a:r>
              <a:rPr sz="2000" dirty="0">
                <a:solidFill>
                  <a:srgbClr val="DDE7F4"/>
                </a:solidFill>
              </a:rPr>
              <a:t>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0000" y="216000"/>
            <a:ext cx="11472119" cy="576000"/>
          </a:xfrm>
          <a:prstGeom prst="rect">
            <a:avLst/>
          </a:prstGeom>
          <a:noFill/>
        </p:spPr>
        <p:txBody>
          <a:bodyPr wrap="square">
            <a:spAutoFit/>
          </a:bodyPr>
          <a:lstStyle/>
          <a:p>
            <a:pPr algn="l"/>
            <a:r>
              <a:rPr sz="3200" b="1">
                <a:solidFill>
                  <a:srgbClr val="103266"/>
                </a:solidFill>
              </a:rPr>
              <a:t>Why digital art restoration?</a:t>
            </a:r>
          </a:p>
        </p:txBody>
      </p:sp>
      <p:sp>
        <p:nvSpPr>
          <p:cNvPr id="3" name="TextBox 2"/>
          <p:cNvSpPr txBox="1"/>
          <p:nvPr/>
        </p:nvSpPr>
        <p:spPr>
          <a:xfrm>
            <a:off x="432000" y="936000"/>
            <a:ext cx="11328119" cy="5490000"/>
          </a:xfrm>
          <a:prstGeom prst="rect">
            <a:avLst/>
          </a:prstGeom>
          <a:noFill/>
        </p:spPr>
        <p:txBody>
          <a:bodyPr wrap="square">
            <a:spAutoFit/>
          </a:bodyPr>
          <a:lstStyle/>
          <a:p>
            <a:pPr algn="l">
              <a:spcAft>
                <a:spcPts val="600"/>
              </a:spcAft>
            </a:pPr>
            <a:r>
              <a:rPr sz="2000">
                <a:solidFill>
                  <a:srgbClr val="1A1A1A"/>
                </a:solidFill>
              </a:rPr>
              <a:t>•  Paintings inevitably degrade — pigments fade, varnish yellows, surfaces crack and flake.</a:t>
            </a:r>
          </a:p>
          <a:p>
            <a:pPr algn="l">
              <a:spcAft>
                <a:spcPts val="600"/>
              </a:spcAft>
            </a:pPr>
            <a:r>
              <a:rPr sz="2000">
                <a:solidFill>
                  <a:srgbClr val="1A1A1A"/>
                </a:solidFill>
              </a:rPr>
              <a:t>•  Manual restoration is slow, irreversible and requires deep expertise.</a:t>
            </a:r>
          </a:p>
          <a:p>
            <a:pPr algn="l">
              <a:spcAft>
                <a:spcPts val="600"/>
              </a:spcAft>
            </a:pPr>
            <a:r>
              <a:rPr sz="2000">
                <a:solidFill>
                  <a:srgbClr val="1A1A1A"/>
                </a:solidFill>
              </a:rPr>
              <a:t>•  Digital restoration is non-destructive: experts can preview reconstructions before any physical intervention.</a:t>
            </a:r>
          </a:p>
          <a:p>
            <a:pPr algn="l">
              <a:spcAft>
                <a:spcPts val="600"/>
              </a:spcAft>
            </a:pPr>
            <a:r>
              <a:rPr sz="2000">
                <a:solidFill>
                  <a:srgbClr val="1A1A1A"/>
                </a:solidFill>
              </a:rPr>
              <a:t>•  Inpainting (filling missing pixels) is the core computational problem — easy for small smooth regions, hard for large irregular holes on stylised content.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0000" y="216000"/>
            <a:ext cx="11472119" cy="576000"/>
          </a:xfrm>
          <a:prstGeom prst="rect">
            <a:avLst/>
          </a:prstGeom>
          <a:noFill/>
        </p:spPr>
        <p:txBody>
          <a:bodyPr wrap="square">
            <a:spAutoFit/>
          </a:bodyPr>
          <a:lstStyle/>
          <a:p>
            <a:pPr algn="l"/>
            <a:r>
              <a:rPr sz="3200" b="1">
                <a:solidFill>
                  <a:srgbClr val="103266"/>
                </a:solidFill>
              </a:rPr>
              <a:t>Research questions</a:t>
            </a:r>
          </a:p>
        </p:txBody>
      </p:sp>
      <p:sp>
        <p:nvSpPr>
          <p:cNvPr id="3" name="TextBox 2"/>
          <p:cNvSpPr txBox="1"/>
          <p:nvPr/>
        </p:nvSpPr>
        <p:spPr>
          <a:xfrm>
            <a:off x="432000" y="936000"/>
            <a:ext cx="11328119" cy="5490000"/>
          </a:xfrm>
          <a:prstGeom prst="rect">
            <a:avLst/>
          </a:prstGeom>
          <a:noFill/>
        </p:spPr>
        <p:txBody>
          <a:bodyPr wrap="square">
            <a:spAutoFit/>
          </a:bodyPr>
          <a:lstStyle/>
          <a:p>
            <a:pPr algn="l">
              <a:spcAft>
                <a:spcPts val="600"/>
              </a:spcAft>
            </a:pPr>
            <a:r>
              <a:rPr sz="2000" dirty="0">
                <a:solidFill>
                  <a:srgbClr val="1A1A1A"/>
                </a:solidFill>
              </a:rPr>
              <a:t>•  RQ1.  Does partial convolution (Liu 2018) beat a plain U-Net with mask-concatenation under matched training?</a:t>
            </a:r>
          </a:p>
          <a:p>
            <a:pPr algn="l">
              <a:spcAft>
                <a:spcPts val="600"/>
              </a:spcAft>
            </a:pPr>
            <a:r>
              <a:rPr sz="2000" dirty="0">
                <a:solidFill>
                  <a:srgbClr val="1A1A1A"/>
                </a:solidFill>
              </a:rPr>
              <a:t>•  RQ2.  </a:t>
            </a:r>
            <a:r>
              <a:rPr sz="2000">
                <a:solidFill>
                  <a:srgbClr val="1A1A1A"/>
                </a:solidFill>
              </a:rPr>
              <a:t>Does gated convolution (Yu 2019) beat partial convolution on the art domain, as it does on natural photographs?</a:t>
            </a:r>
          </a:p>
          <a:p>
            <a:pPr algn="l">
              <a:spcAft>
                <a:spcPts val="600"/>
              </a:spcAft>
            </a:pPr>
            <a:r>
              <a:rPr sz="2000" dirty="0">
                <a:solidFill>
                  <a:srgbClr val="1A1A1A"/>
                </a:solidFill>
              </a:rPr>
              <a:t>•  RQ3.  Is the architectural ranking stable across damage severity (light / medium / heavy)?</a:t>
            </a:r>
          </a:p>
          <a:p>
            <a:pPr algn="l">
              <a:spcAft>
                <a:spcPts val="600"/>
              </a:spcAft>
            </a:pPr>
            <a:r>
              <a:rPr sz="2000" dirty="0">
                <a:solidFill>
                  <a:srgbClr val="1A1A1A"/>
                </a:solidFill>
              </a:rPr>
              <a:t>•  RQ4.  Is the ranking stable across damage type (brush / crack / paint loss / stain)?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0000" y="216000"/>
            <a:ext cx="11472119" cy="576000"/>
          </a:xfrm>
          <a:prstGeom prst="rect">
            <a:avLst/>
          </a:prstGeom>
          <a:noFill/>
        </p:spPr>
        <p:txBody>
          <a:bodyPr wrap="square">
            <a:spAutoFit/>
          </a:bodyPr>
          <a:lstStyle/>
          <a:p>
            <a:pPr algn="l"/>
            <a:r>
              <a:rPr sz="3200" b="1">
                <a:solidFill>
                  <a:srgbClr val="103266"/>
                </a:solidFill>
              </a:rPr>
              <a:t>Four contributions</a:t>
            </a:r>
          </a:p>
        </p:txBody>
      </p:sp>
      <p:sp>
        <p:nvSpPr>
          <p:cNvPr id="3" name="TextBox 2"/>
          <p:cNvSpPr txBox="1"/>
          <p:nvPr/>
        </p:nvSpPr>
        <p:spPr>
          <a:xfrm>
            <a:off x="432000" y="936000"/>
            <a:ext cx="11328119" cy="5490000"/>
          </a:xfrm>
          <a:prstGeom prst="rect">
            <a:avLst/>
          </a:prstGeom>
          <a:noFill/>
        </p:spPr>
        <p:txBody>
          <a:bodyPr wrap="square">
            <a:spAutoFit/>
          </a:bodyPr>
          <a:lstStyle/>
          <a:p>
            <a:pPr algn="l">
              <a:spcAft>
                <a:spcPts val="600"/>
              </a:spcAft>
            </a:pPr>
            <a:r>
              <a:rPr sz="2000">
                <a:solidFill>
                  <a:srgbClr val="1A1A1A"/>
                </a:solidFill>
              </a:rPr>
              <a:t>•  C1.  Open-source WikiArt benchmark for irregular-mask inpainting (first of its kind).</a:t>
            </a:r>
          </a:p>
          <a:p>
            <a:pPr algn="l">
              <a:spcAft>
                <a:spcPts val="600"/>
              </a:spcAft>
            </a:pPr>
            <a:r>
              <a:rPr sz="2000">
                <a:solidFill>
                  <a:srgbClr val="1A1A1A"/>
                </a:solidFill>
              </a:rPr>
              <a:t>•  C2.  Four art-specific synthetic damage generators × three difficulty levels — 12 evaluation cells.</a:t>
            </a:r>
          </a:p>
          <a:p>
            <a:pPr algn="l">
              <a:spcAft>
                <a:spcPts val="600"/>
              </a:spcAft>
            </a:pPr>
            <a:r>
              <a:rPr sz="2000">
                <a:solidFill>
                  <a:srgbClr val="1A1A1A"/>
                </a:solidFill>
              </a:rPr>
              <a:t>•  C3.  Rigorous matched-recipe comparison of PConv vs Vanilla vs Gated U-Net; paired Wilcoxon + Bonferroni; per-cell breakdown.</a:t>
            </a:r>
          </a:p>
          <a:p>
            <a:pPr algn="l">
              <a:spcAft>
                <a:spcPts val="600"/>
              </a:spcAft>
            </a:pPr>
            <a:r>
              <a:rPr sz="2000">
                <a:solidFill>
                  <a:srgbClr val="1A1A1A"/>
                </a:solidFill>
              </a:rPr>
              <a:t>•  C4.  Publicly-runnable interactive Gradio demo — first runnable art-inpainting system.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0000" y="216000"/>
            <a:ext cx="11472119" cy="576000"/>
          </a:xfrm>
          <a:prstGeom prst="rect">
            <a:avLst/>
          </a:prstGeom>
          <a:noFill/>
        </p:spPr>
        <p:txBody>
          <a:bodyPr wrap="square">
            <a:spAutoFit/>
          </a:bodyPr>
          <a:lstStyle/>
          <a:p>
            <a:pPr algn="l"/>
            <a:r>
              <a:rPr sz="3200" b="1">
                <a:solidFill>
                  <a:srgbClr val="103266"/>
                </a:solidFill>
              </a:rPr>
              <a:t>Related work — a 20-year arc</a:t>
            </a:r>
          </a:p>
        </p:txBody>
      </p:sp>
      <p:sp>
        <p:nvSpPr>
          <p:cNvPr id="3" name="TextBox 2"/>
          <p:cNvSpPr txBox="1"/>
          <p:nvPr/>
        </p:nvSpPr>
        <p:spPr>
          <a:xfrm>
            <a:off x="432000" y="936000"/>
            <a:ext cx="11328119" cy="5490000"/>
          </a:xfrm>
          <a:prstGeom prst="rect">
            <a:avLst/>
          </a:prstGeom>
          <a:noFill/>
        </p:spPr>
        <p:txBody>
          <a:bodyPr wrap="square">
            <a:spAutoFit/>
          </a:bodyPr>
          <a:lstStyle/>
          <a:p>
            <a:pPr algn="l">
              <a:spcAft>
                <a:spcPts val="600"/>
              </a:spcAft>
            </a:pPr>
            <a:r>
              <a:rPr sz="1800">
                <a:solidFill>
                  <a:srgbClr val="1A1A1A"/>
                </a:solidFill>
              </a:rPr>
              <a:t>•  2000 — Bertalmio et al.: diffusion-based inpainting.  Fails on textures.</a:t>
            </a:r>
          </a:p>
          <a:p>
            <a:pPr algn="l">
              <a:spcAft>
                <a:spcPts val="600"/>
              </a:spcAft>
            </a:pPr>
            <a:r>
              <a:rPr sz="1800">
                <a:solidFill>
                  <a:srgbClr val="1A1A1A"/>
                </a:solidFill>
              </a:rPr>
              <a:t>•  2009 — PatchMatch: copy-paste from intact regions.  No semantics.</a:t>
            </a:r>
          </a:p>
          <a:p>
            <a:pPr algn="l">
              <a:spcAft>
                <a:spcPts val="600"/>
              </a:spcAft>
            </a:pPr>
            <a:r>
              <a:rPr sz="1800">
                <a:solidFill>
                  <a:srgbClr val="1A1A1A"/>
                </a:solidFill>
              </a:rPr>
              <a:t>•  2016 — Context Encoder: first deep inpainter.  Rectangular holes only.</a:t>
            </a:r>
          </a:p>
          <a:p>
            <a:pPr algn="l">
              <a:spcAft>
                <a:spcPts val="600"/>
              </a:spcAft>
            </a:pPr>
            <a:r>
              <a:rPr sz="1800">
                <a:solidFill>
                  <a:srgbClr val="1A1A1A"/>
                </a:solidFill>
              </a:rPr>
              <a:t>•  2018 — PConv (Liu): mask-aware partial convolution, free-form holes.</a:t>
            </a:r>
          </a:p>
          <a:p>
            <a:pPr algn="l">
              <a:spcAft>
                <a:spcPts val="600"/>
              </a:spcAft>
            </a:pPr>
            <a:r>
              <a:rPr sz="1800">
                <a:solidFill>
                  <a:srgbClr val="1A1A1A"/>
                </a:solidFill>
              </a:rPr>
              <a:t>•  2019 — Gated conv (Yu, DeepFillv2): soft attention gate, modern SOTA.</a:t>
            </a:r>
          </a:p>
          <a:p>
            <a:pPr algn="l">
              <a:spcAft>
                <a:spcPts val="600"/>
              </a:spcAft>
            </a:pPr>
            <a:r>
              <a:rPr sz="1800">
                <a:solidFill>
                  <a:srgbClr val="1A1A1A"/>
                </a:solidFill>
              </a:rPr>
              <a:t>•  2022 — LaMa, diffusion-based methods.  Out of compute scope for this thesis.</a:t>
            </a:r>
          </a:p>
          <a:p>
            <a:pPr algn="l">
              <a:spcAft>
                <a:spcPts val="600"/>
              </a:spcAft>
            </a:pPr>
            <a:r>
              <a:rPr sz="1800">
                <a:solidFill>
                  <a:srgbClr val="1A1A1A"/>
                </a:solidFill>
              </a:rPr>
              <a:t>•  Art-specific work: Gupta 2019 (Indian paintings), Farajzadeh 2021 (Iranian).  No rigorous architectural comparison on WikiArt.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0000" y="216000"/>
            <a:ext cx="11472119" cy="576000"/>
          </a:xfrm>
          <a:prstGeom prst="rect">
            <a:avLst/>
          </a:prstGeom>
          <a:noFill/>
        </p:spPr>
        <p:txBody>
          <a:bodyPr wrap="square">
            <a:spAutoFit/>
          </a:bodyPr>
          <a:lstStyle/>
          <a:p>
            <a:pPr algn="l"/>
            <a:r>
              <a:rPr sz="3200" b="1">
                <a:solidFill>
                  <a:srgbClr val="103266"/>
                </a:solidFill>
              </a:rPr>
              <a:t>Three architectures, one training recipe</a:t>
            </a:r>
          </a:p>
        </p:txBody>
      </p:sp>
      <p:pic>
        <p:nvPicPr>
          <p:cNvPr id="3" name="Picture 2" descr="pconv_unet_architecture.png"/>
          <p:cNvPicPr>
            <a:picLocks noChangeAspect="1"/>
          </p:cNvPicPr>
          <p:nvPr/>
        </p:nvPicPr>
        <p:blipFill>
          <a:blip r:embed="rId3"/>
          <a:stretch>
            <a:fillRect/>
          </a:stretch>
        </p:blipFill>
        <p:spPr>
          <a:xfrm>
            <a:off x="360000" y="703760"/>
            <a:ext cx="5736000" cy="5938240"/>
          </a:xfrm>
          <a:prstGeom prst="rect">
            <a:avLst/>
          </a:prstGeom>
        </p:spPr>
      </p:pic>
      <p:sp>
        <p:nvSpPr>
          <p:cNvPr id="4" name="TextBox 3"/>
          <p:cNvSpPr txBox="1"/>
          <p:nvPr/>
        </p:nvSpPr>
        <p:spPr>
          <a:xfrm>
            <a:off x="6660000" y="1080000"/>
            <a:ext cx="5220000" cy="5346000"/>
          </a:xfrm>
          <a:prstGeom prst="rect">
            <a:avLst/>
          </a:prstGeom>
          <a:noFill/>
        </p:spPr>
        <p:txBody>
          <a:bodyPr wrap="square">
            <a:spAutoFit/>
          </a:bodyPr>
          <a:lstStyle/>
          <a:p>
            <a:pPr algn="l">
              <a:spcAft>
                <a:spcPts val="600"/>
              </a:spcAft>
            </a:pPr>
            <a:r>
              <a:rPr sz="1600">
                <a:solidFill>
                  <a:srgbClr val="1A1A1A"/>
                </a:solidFill>
              </a:rPr>
              <a:t>•  PConv U-Net: partial conv + hard mask propagation (~26 M params).</a:t>
            </a:r>
          </a:p>
          <a:p>
            <a:pPr algn="l">
              <a:spcAft>
                <a:spcPts val="600"/>
              </a:spcAft>
            </a:pPr>
            <a:r>
              <a:rPr sz="1600">
                <a:solidFill>
                  <a:srgbClr val="1A1A1A"/>
                </a:solidFill>
              </a:rPr>
              <a:t>•  Vanilla U-Net: plain Conv2d, mask as 4th input channel (~26 M params).</a:t>
            </a:r>
          </a:p>
          <a:p>
            <a:pPr algn="l">
              <a:spcAft>
                <a:spcPts val="600"/>
              </a:spcAft>
            </a:pPr>
            <a:r>
              <a:rPr sz="1600">
                <a:solidFill>
                  <a:srgbClr val="1A1A1A"/>
                </a:solidFill>
              </a:rPr>
              <a:t>•  Gated U-Net: gated conv, learned soft attention gate (~50 M params).</a:t>
            </a:r>
          </a:p>
          <a:p>
            <a:pPr algn="l">
              <a:spcAft>
                <a:spcPts val="600"/>
              </a:spcAft>
            </a:pPr>
            <a:r>
              <a:rPr sz="1600">
                <a:solidFill>
                  <a:srgbClr val="1A1A1A"/>
                </a:solidFill>
              </a:rPr>
              <a:t>•  Only the convolution operator differs.  Same depth, same channels, same loss, same schedule.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0000" y="216000"/>
            <a:ext cx="11472119" cy="576000"/>
          </a:xfrm>
          <a:prstGeom prst="rect">
            <a:avLst/>
          </a:prstGeom>
          <a:noFill/>
        </p:spPr>
        <p:txBody>
          <a:bodyPr wrap="square">
            <a:spAutoFit/>
          </a:bodyPr>
          <a:lstStyle/>
          <a:p>
            <a:pPr algn="l"/>
            <a:r>
              <a:rPr sz="3200" b="1">
                <a:solidFill>
                  <a:srgbClr val="103266"/>
                </a:solidFill>
              </a:rPr>
              <a:t>Composite loss (Liu et al. 2018)</a:t>
            </a:r>
          </a:p>
        </p:txBody>
      </p:sp>
      <p:sp>
        <p:nvSpPr>
          <p:cNvPr id="3" name="TextBox 2"/>
          <p:cNvSpPr txBox="1"/>
          <p:nvPr/>
        </p:nvSpPr>
        <p:spPr>
          <a:xfrm>
            <a:off x="432000" y="936000"/>
            <a:ext cx="11328119" cy="5490000"/>
          </a:xfrm>
          <a:prstGeom prst="rect">
            <a:avLst/>
          </a:prstGeom>
          <a:noFill/>
        </p:spPr>
        <p:txBody>
          <a:bodyPr wrap="square">
            <a:spAutoFit/>
          </a:bodyPr>
          <a:lstStyle/>
          <a:p>
            <a:pPr algn="l">
              <a:spcAft>
                <a:spcPts val="600"/>
              </a:spcAft>
            </a:pPr>
            <a:r>
              <a:rPr sz="1800" dirty="0">
                <a:solidFill>
                  <a:srgbClr val="1A1A1A"/>
                </a:solidFill>
              </a:rPr>
              <a:t>•  L = </a:t>
            </a:r>
            <a:r>
              <a:rPr sz="1800" dirty="0" err="1">
                <a:solidFill>
                  <a:srgbClr val="1A1A1A"/>
                </a:solidFill>
              </a:rPr>
              <a:t>λ_valid</a:t>
            </a:r>
            <a:r>
              <a:rPr sz="1800" dirty="0">
                <a:solidFill>
                  <a:srgbClr val="1A1A1A"/>
                </a:solidFill>
              </a:rPr>
              <a:t> · L1_valid + </a:t>
            </a:r>
            <a:r>
              <a:rPr sz="1800" dirty="0" err="1">
                <a:solidFill>
                  <a:srgbClr val="1A1A1A"/>
                </a:solidFill>
              </a:rPr>
              <a:t>λ_hole</a:t>
            </a:r>
            <a:r>
              <a:rPr sz="1800" dirty="0">
                <a:solidFill>
                  <a:srgbClr val="1A1A1A"/>
                </a:solidFill>
              </a:rPr>
              <a:t> · L1_hole + </a:t>
            </a:r>
            <a:r>
              <a:rPr sz="1800" dirty="0" err="1">
                <a:solidFill>
                  <a:srgbClr val="1A1A1A"/>
                </a:solidFill>
              </a:rPr>
              <a:t>λ_perc</a:t>
            </a:r>
            <a:r>
              <a:rPr sz="1800" dirty="0">
                <a:solidFill>
                  <a:srgbClr val="1A1A1A"/>
                </a:solidFill>
              </a:rPr>
              <a:t> · </a:t>
            </a:r>
            <a:r>
              <a:rPr sz="1800" dirty="0" err="1">
                <a:solidFill>
                  <a:srgbClr val="1A1A1A"/>
                </a:solidFill>
              </a:rPr>
              <a:t>L_perc</a:t>
            </a:r>
            <a:r>
              <a:rPr sz="1800" dirty="0">
                <a:solidFill>
                  <a:srgbClr val="1A1A1A"/>
                </a:solidFill>
              </a:rPr>
              <a:t> + </a:t>
            </a:r>
            <a:r>
              <a:rPr sz="1800" dirty="0" err="1">
                <a:solidFill>
                  <a:srgbClr val="1A1A1A"/>
                </a:solidFill>
              </a:rPr>
              <a:t>λ_style</a:t>
            </a:r>
            <a:r>
              <a:rPr sz="1800" dirty="0">
                <a:solidFill>
                  <a:srgbClr val="1A1A1A"/>
                </a:solidFill>
              </a:rPr>
              <a:t> · </a:t>
            </a:r>
            <a:r>
              <a:rPr sz="1800" dirty="0" err="1">
                <a:solidFill>
                  <a:srgbClr val="1A1A1A"/>
                </a:solidFill>
              </a:rPr>
              <a:t>L_style</a:t>
            </a:r>
            <a:r>
              <a:rPr sz="1800" dirty="0">
                <a:solidFill>
                  <a:srgbClr val="1A1A1A"/>
                </a:solidFill>
              </a:rPr>
              <a:t> + </a:t>
            </a:r>
            <a:r>
              <a:rPr sz="1800" dirty="0" err="1">
                <a:solidFill>
                  <a:srgbClr val="1A1A1A"/>
                </a:solidFill>
              </a:rPr>
              <a:t>λ_tv</a:t>
            </a:r>
            <a:r>
              <a:rPr sz="1800" dirty="0">
                <a:solidFill>
                  <a:srgbClr val="1A1A1A"/>
                </a:solidFill>
              </a:rPr>
              <a:t> · </a:t>
            </a:r>
            <a:r>
              <a:rPr sz="1800" dirty="0" err="1">
                <a:solidFill>
                  <a:srgbClr val="1A1A1A"/>
                </a:solidFill>
              </a:rPr>
              <a:t>L_tv</a:t>
            </a:r>
            <a:endParaRPr sz="1800" dirty="0">
              <a:solidFill>
                <a:srgbClr val="1A1A1A"/>
              </a:solidFill>
            </a:endParaRPr>
          </a:p>
          <a:p>
            <a:pPr algn="l">
              <a:spcAft>
                <a:spcPts val="600"/>
              </a:spcAft>
            </a:pPr>
            <a:r>
              <a:rPr sz="1800" dirty="0">
                <a:solidFill>
                  <a:srgbClr val="1A1A1A"/>
                </a:solidFill>
              </a:rPr>
              <a:t>•  L1_valid:  pixelwise L1 on intact pixels.</a:t>
            </a:r>
          </a:p>
          <a:p>
            <a:pPr algn="l">
              <a:spcAft>
                <a:spcPts val="600"/>
              </a:spcAft>
            </a:pPr>
            <a:r>
              <a:rPr sz="1800" dirty="0">
                <a:solidFill>
                  <a:srgbClr val="1A1A1A"/>
                </a:solidFill>
              </a:rPr>
              <a:t>•  L1_hole:   pixelwise L1 on hole pixels (weighted 6×).</a:t>
            </a:r>
          </a:p>
          <a:p>
            <a:pPr algn="l">
              <a:spcAft>
                <a:spcPts val="600"/>
              </a:spcAft>
            </a:pPr>
            <a:r>
              <a:rPr sz="1800" dirty="0">
                <a:solidFill>
                  <a:srgbClr val="1A1A1A"/>
                </a:solidFill>
              </a:rPr>
              <a:t>•  </a:t>
            </a:r>
            <a:r>
              <a:rPr sz="1800" dirty="0" err="1">
                <a:solidFill>
                  <a:srgbClr val="1A1A1A"/>
                </a:solidFill>
              </a:rPr>
              <a:t>L_perc</a:t>
            </a:r>
            <a:r>
              <a:rPr sz="1800" dirty="0">
                <a:solidFill>
                  <a:srgbClr val="1A1A1A"/>
                </a:solidFill>
              </a:rPr>
              <a:t>:    VGG16 perceptual loss at relu1_1 / relu2_1 / relu3_1.</a:t>
            </a:r>
          </a:p>
          <a:p>
            <a:pPr algn="l">
              <a:spcAft>
                <a:spcPts val="600"/>
              </a:spcAft>
            </a:pPr>
            <a:r>
              <a:rPr sz="1800" dirty="0">
                <a:solidFill>
                  <a:srgbClr val="1A1A1A"/>
                </a:solidFill>
              </a:rPr>
              <a:t>•  </a:t>
            </a:r>
            <a:r>
              <a:rPr sz="1800" dirty="0" err="1">
                <a:solidFill>
                  <a:srgbClr val="1A1A1A"/>
                </a:solidFill>
              </a:rPr>
              <a:t>L_style</a:t>
            </a:r>
            <a:r>
              <a:rPr sz="1800" dirty="0">
                <a:solidFill>
                  <a:srgbClr val="1A1A1A"/>
                </a:solidFill>
              </a:rPr>
              <a:t>:   Gram-matrix style loss at the same VGG layers.</a:t>
            </a:r>
          </a:p>
          <a:p>
            <a:pPr algn="l">
              <a:spcAft>
                <a:spcPts val="600"/>
              </a:spcAft>
            </a:pPr>
            <a:r>
              <a:rPr sz="1800" dirty="0">
                <a:solidFill>
                  <a:srgbClr val="1A1A1A"/>
                </a:solidFill>
              </a:rPr>
              <a:t>•  </a:t>
            </a:r>
            <a:r>
              <a:rPr sz="1800" dirty="0" err="1">
                <a:solidFill>
                  <a:srgbClr val="1A1A1A"/>
                </a:solidFill>
              </a:rPr>
              <a:t>L_tv</a:t>
            </a:r>
            <a:r>
              <a:rPr sz="1800" dirty="0">
                <a:solidFill>
                  <a:srgbClr val="1A1A1A"/>
                </a:solidFill>
              </a:rPr>
              <a:t>:      total-variation </a:t>
            </a:r>
            <a:r>
              <a:rPr sz="1800" dirty="0" err="1">
                <a:solidFill>
                  <a:srgbClr val="1A1A1A"/>
                </a:solidFill>
              </a:rPr>
              <a:t>regulariser</a:t>
            </a:r>
            <a:r>
              <a:rPr sz="1800" dirty="0">
                <a:solidFill>
                  <a:srgbClr val="1A1A1A"/>
                </a:solidFill>
              </a:rPr>
              <a:t> over the hole region.</a:t>
            </a:r>
          </a:p>
          <a:p>
            <a:pPr algn="l">
              <a:spcAft>
                <a:spcPts val="600"/>
              </a:spcAft>
            </a:pPr>
            <a:r>
              <a:rPr sz="1800" dirty="0">
                <a:solidFill>
                  <a:srgbClr val="1A1A1A"/>
                </a:solidFill>
              </a:rPr>
              <a:t>•  Weights: 1, 6, 0.05, 50, 0.1 — identical for all three models.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0000" y="216000"/>
            <a:ext cx="11472119" cy="576000"/>
          </a:xfrm>
          <a:prstGeom prst="rect">
            <a:avLst/>
          </a:prstGeom>
          <a:noFill/>
        </p:spPr>
        <p:txBody>
          <a:bodyPr wrap="square">
            <a:spAutoFit/>
          </a:bodyPr>
          <a:lstStyle/>
          <a:p>
            <a:pPr algn="l"/>
            <a:r>
              <a:rPr sz="3200" b="1">
                <a:solidFill>
                  <a:srgbClr val="103266"/>
                </a:solidFill>
              </a:rPr>
              <a:t>Dataset and synthetic damage masks</a:t>
            </a:r>
          </a:p>
        </p:txBody>
      </p:sp>
      <p:sp>
        <p:nvSpPr>
          <p:cNvPr id="3" name="TextBox 2"/>
          <p:cNvSpPr txBox="1"/>
          <p:nvPr/>
        </p:nvSpPr>
        <p:spPr>
          <a:xfrm>
            <a:off x="432000" y="936000"/>
            <a:ext cx="11328119" cy="5490000"/>
          </a:xfrm>
          <a:prstGeom prst="rect">
            <a:avLst/>
          </a:prstGeom>
          <a:noFill/>
        </p:spPr>
        <p:txBody>
          <a:bodyPr wrap="square">
            <a:spAutoFit/>
          </a:bodyPr>
          <a:lstStyle/>
          <a:p>
            <a:pPr algn="l">
              <a:spcAft>
                <a:spcPts val="600"/>
              </a:spcAft>
            </a:pPr>
            <a:r>
              <a:rPr sz="1800">
                <a:solidFill>
                  <a:srgbClr val="1A1A1A"/>
                </a:solidFill>
              </a:rPr>
              <a:t>•  WikiArt — 39,213 paintings × 5 styles (Renaissance, Baroque, Impressionism, Post-Impressionism, Realism).</a:t>
            </a:r>
          </a:p>
          <a:p>
            <a:pPr algn="l">
              <a:spcAft>
                <a:spcPts val="600"/>
              </a:spcAft>
            </a:pPr>
            <a:r>
              <a:rPr sz="1800">
                <a:solidFill>
                  <a:srgbClr val="1A1A1A"/>
                </a:solidFill>
              </a:rPr>
              <a:t>•  Aspect-preserving resize + centre crop to 256 × 256.</a:t>
            </a:r>
          </a:p>
          <a:p>
            <a:pPr algn="l">
              <a:spcAft>
                <a:spcPts val="600"/>
              </a:spcAft>
            </a:pPr>
            <a:r>
              <a:rPr sz="1800">
                <a:solidFill>
                  <a:srgbClr val="1A1A1A"/>
                </a:solidFill>
              </a:rPr>
              <a:t>•  Train / val / test = 31,815 / 3,977 / 3,977, stratified by style.</a:t>
            </a:r>
          </a:p>
          <a:p>
            <a:pPr algn="l">
              <a:spcAft>
                <a:spcPts val="600"/>
              </a:spcAft>
            </a:pPr>
            <a:r>
              <a:rPr sz="1800">
                <a:solidFill>
                  <a:srgbClr val="1A1A1A"/>
                </a:solidFill>
              </a:rPr>
              <a:t>•  Four damage primitives: brush strokes, cracks, paint loss, aging stains.</a:t>
            </a:r>
          </a:p>
          <a:p>
            <a:pPr algn="l">
              <a:spcAft>
                <a:spcPts val="600"/>
              </a:spcAft>
            </a:pPr>
            <a:r>
              <a:rPr sz="1800">
                <a:solidFill>
                  <a:srgbClr val="1A1A1A"/>
                </a:solidFill>
              </a:rPr>
              <a:t>•  Three difficulty levels by hole-area: light 10–20 %, medium 20–40 %, heavy 40–60 %.</a:t>
            </a:r>
          </a:p>
          <a:p>
            <a:pPr algn="l">
              <a:spcAft>
                <a:spcPts val="600"/>
              </a:spcAft>
            </a:pPr>
            <a:r>
              <a:rPr sz="1800">
                <a:solidFill>
                  <a:srgbClr val="1A1A1A"/>
                </a:solidFill>
              </a:rPr>
              <a:t>•  Test masks are deterministic (seed = 12345) — same masks for all three models.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0000" y="216000"/>
            <a:ext cx="11472119" cy="576000"/>
          </a:xfrm>
          <a:prstGeom prst="rect">
            <a:avLst/>
          </a:prstGeom>
          <a:noFill/>
        </p:spPr>
        <p:txBody>
          <a:bodyPr wrap="square">
            <a:spAutoFit/>
          </a:bodyPr>
          <a:lstStyle/>
          <a:p>
            <a:pPr algn="l"/>
            <a:r>
              <a:rPr sz="3200" b="1">
                <a:solidFill>
                  <a:srgbClr val="103266"/>
                </a:solidFill>
              </a:rPr>
              <a:t>Training protocol — the fairness contract</a:t>
            </a:r>
          </a:p>
        </p:txBody>
      </p:sp>
      <p:graphicFrame>
        <p:nvGraphicFramePr>
          <p:cNvPr id="3" name="Table 2"/>
          <p:cNvGraphicFramePr>
            <a:graphicFrameLocks noGrp="1"/>
          </p:cNvGraphicFramePr>
          <p:nvPr/>
        </p:nvGraphicFramePr>
        <p:xfrm>
          <a:off x="720000" y="936000"/>
          <a:ext cx="7200000" cy="4320000"/>
        </p:xfrm>
        <a:graphic>
          <a:graphicData uri="http://schemas.openxmlformats.org/drawingml/2006/table">
            <a:tbl>
              <a:tblPr firstRow="1" bandRow="1">
                <a:tableStyleId>{5C22544A-7EE6-4342-B048-85BDC9FD1C3A}</a:tableStyleId>
              </a:tblPr>
              <a:tblGrid>
                <a:gridCol w="3600000">
                  <a:extLst>
                    <a:ext uri="{9D8B030D-6E8A-4147-A177-3AD203B41FA5}">
                      <a16:colId xmlns:a16="http://schemas.microsoft.com/office/drawing/2014/main" val="20000"/>
                    </a:ext>
                  </a:extLst>
                </a:gridCol>
                <a:gridCol w="3600000">
                  <a:extLst>
                    <a:ext uri="{9D8B030D-6E8A-4147-A177-3AD203B41FA5}">
                      <a16:colId xmlns:a16="http://schemas.microsoft.com/office/drawing/2014/main" val="20001"/>
                    </a:ext>
                  </a:extLst>
                </a:gridCol>
              </a:tblGrid>
              <a:tr h="392727">
                <a:tc>
                  <a:txBody>
                    <a:bodyPr/>
                    <a:lstStyle/>
                    <a:p>
                      <a:r>
                        <a:rPr sz="1500" b="1">
                          <a:solidFill>
                            <a:srgbClr val="FFFFFF"/>
                          </a:solidFill>
                        </a:rPr>
                        <a:t>Hyperparameter</a:t>
                      </a:r>
                    </a:p>
                  </a:txBody>
                  <a:tcPr>
                    <a:solidFill>
                      <a:srgbClr val="103266"/>
                    </a:solidFill>
                  </a:tcPr>
                </a:tc>
                <a:tc>
                  <a:txBody>
                    <a:bodyPr/>
                    <a:lstStyle/>
                    <a:p>
                      <a:r>
                        <a:rPr sz="1500" b="1">
                          <a:solidFill>
                            <a:srgbClr val="FFFFFF"/>
                          </a:solidFill>
                        </a:rPr>
                        <a:t>Value</a:t>
                      </a:r>
                    </a:p>
                  </a:txBody>
                  <a:tcPr>
                    <a:solidFill>
                      <a:srgbClr val="103266"/>
                    </a:solidFill>
                  </a:tcPr>
                </a:tc>
                <a:extLst>
                  <a:ext uri="{0D108BD9-81ED-4DB2-BD59-A6C34878D82A}">
                    <a16:rowId xmlns:a16="http://schemas.microsoft.com/office/drawing/2014/main" val="10000"/>
                  </a:ext>
                </a:extLst>
              </a:tr>
              <a:tr h="392727">
                <a:tc>
                  <a:txBody>
                    <a:bodyPr/>
                    <a:lstStyle/>
                    <a:p>
                      <a:r>
                        <a:rPr sz="1500"/>
                        <a:t>Optimiser</a:t>
                      </a:r>
                    </a:p>
                  </a:txBody>
                  <a:tcPr/>
                </a:tc>
                <a:tc>
                  <a:txBody>
                    <a:bodyPr/>
                    <a:lstStyle/>
                    <a:p>
                      <a:r>
                        <a:rPr sz="1500"/>
                        <a:t>Adam (β=(0.9, 0.999))</a:t>
                      </a:r>
                    </a:p>
                  </a:txBody>
                  <a:tcPr/>
                </a:tc>
                <a:extLst>
                  <a:ext uri="{0D108BD9-81ED-4DB2-BD59-A6C34878D82A}">
                    <a16:rowId xmlns:a16="http://schemas.microsoft.com/office/drawing/2014/main" val="10001"/>
                  </a:ext>
                </a:extLst>
              </a:tr>
              <a:tr h="392727">
                <a:tc>
                  <a:txBody>
                    <a:bodyPr/>
                    <a:lstStyle/>
                    <a:p>
                      <a:r>
                        <a:rPr sz="1500"/>
                        <a:t>Learning rate</a:t>
                      </a:r>
                    </a:p>
                  </a:txBody>
                  <a:tcPr/>
                </a:tc>
                <a:tc>
                  <a:txBody>
                    <a:bodyPr/>
                    <a:lstStyle/>
                    <a:p>
                      <a:r>
                        <a:rPr sz="1500"/>
                        <a:t>2 × 10⁻⁴</a:t>
                      </a:r>
                    </a:p>
                  </a:txBody>
                  <a:tcPr/>
                </a:tc>
                <a:extLst>
                  <a:ext uri="{0D108BD9-81ED-4DB2-BD59-A6C34878D82A}">
                    <a16:rowId xmlns:a16="http://schemas.microsoft.com/office/drawing/2014/main" val="10002"/>
                  </a:ext>
                </a:extLst>
              </a:tr>
              <a:tr h="392727">
                <a:tc>
                  <a:txBody>
                    <a:bodyPr/>
                    <a:lstStyle/>
                    <a:p>
                      <a:r>
                        <a:rPr sz="1500"/>
                        <a:t>LR schedule</a:t>
                      </a:r>
                    </a:p>
                  </a:txBody>
                  <a:tcPr/>
                </a:tc>
                <a:tc>
                  <a:txBody>
                    <a:bodyPr/>
                    <a:lstStyle/>
                    <a:p>
                      <a:r>
                        <a:rPr sz="1500"/>
                        <a:t>Cosine decay → 1 × 10⁻⁶</a:t>
                      </a:r>
                    </a:p>
                  </a:txBody>
                  <a:tcPr/>
                </a:tc>
                <a:extLst>
                  <a:ext uri="{0D108BD9-81ED-4DB2-BD59-A6C34878D82A}">
                    <a16:rowId xmlns:a16="http://schemas.microsoft.com/office/drawing/2014/main" val="10003"/>
                  </a:ext>
                </a:extLst>
              </a:tr>
              <a:tr h="392727">
                <a:tc>
                  <a:txBody>
                    <a:bodyPr/>
                    <a:lstStyle/>
                    <a:p>
                      <a:r>
                        <a:rPr sz="1500"/>
                        <a:t>Warmup</a:t>
                      </a:r>
                    </a:p>
                  </a:txBody>
                  <a:tcPr/>
                </a:tc>
                <a:tc>
                  <a:txBody>
                    <a:bodyPr/>
                    <a:lstStyle/>
                    <a:p>
                      <a:r>
                        <a:rPr sz="1500"/>
                        <a:t>1 epoch</a:t>
                      </a:r>
                    </a:p>
                  </a:txBody>
                  <a:tcPr/>
                </a:tc>
                <a:extLst>
                  <a:ext uri="{0D108BD9-81ED-4DB2-BD59-A6C34878D82A}">
                    <a16:rowId xmlns:a16="http://schemas.microsoft.com/office/drawing/2014/main" val="10004"/>
                  </a:ext>
                </a:extLst>
              </a:tr>
              <a:tr h="392727">
                <a:tc>
                  <a:txBody>
                    <a:bodyPr/>
                    <a:lstStyle/>
                    <a:p>
                      <a:r>
                        <a:rPr sz="1500"/>
                        <a:t>Batch size</a:t>
                      </a:r>
                    </a:p>
                  </a:txBody>
                  <a:tcPr/>
                </a:tc>
                <a:tc>
                  <a:txBody>
                    <a:bodyPr/>
                    <a:lstStyle/>
                    <a:p>
                      <a:r>
                        <a:rPr sz="1500"/>
                        <a:t>4</a:t>
                      </a:r>
                    </a:p>
                  </a:txBody>
                  <a:tcPr/>
                </a:tc>
                <a:extLst>
                  <a:ext uri="{0D108BD9-81ED-4DB2-BD59-A6C34878D82A}">
                    <a16:rowId xmlns:a16="http://schemas.microsoft.com/office/drawing/2014/main" val="10005"/>
                  </a:ext>
                </a:extLst>
              </a:tr>
              <a:tr h="392727">
                <a:tc>
                  <a:txBody>
                    <a:bodyPr/>
                    <a:lstStyle/>
                    <a:p>
                      <a:r>
                        <a:rPr sz="1500"/>
                        <a:t>Epochs</a:t>
                      </a:r>
                    </a:p>
                  </a:txBody>
                  <a:tcPr/>
                </a:tc>
                <a:tc>
                  <a:txBody>
                    <a:bodyPr/>
                    <a:lstStyle/>
                    <a:p>
                      <a:r>
                        <a:rPr sz="1500" dirty="0"/>
                        <a:t>12</a:t>
                      </a:r>
                    </a:p>
                  </a:txBody>
                  <a:tcPr/>
                </a:tc>
                <a:extLst>
                  <a:ext uri="{0D108BD9-81ED-4DB2-BD59-A6C34878D82A}">
                    <a16:rowId xmlns:a16="http://schemas.microsoft.com/office/drawing/2014/main" val="10006"/>
                  </a:ext>
                </a:extLst>
              </a:tr>
              <a:tr h="392727">
                <a:tc>
                  <a:txBody>
                    <a:bodyPr/>
                    <a:lstStyle/>
                    <a:p>
                      <a:r>
                        <a:rPr sz="1500"/>
                        <a:t>Image size</a:t>
                      </a:r>
                    </a:p>
                  </a:txBody>
                  <a:tcPr/>
                </a:tc>
                <a:tc>
                  <a:txBody>
                    <a:bodyPr/>
                    <a:lstStyle/>
                    <a:p>
                      <a:r>
                        <a:rPr sz="1500"/>
                        <a:t>256 × 256</a:t>
                      </a:r>
                    </a:p>
                  </a:txBody>
                  <a:tcPr/>
                </a:tc>
                <a:extLst>
                  <a:ext uri="{0D108BD9-81ED-4DB2-BD59-A6C34878D82A}">
                    <a16:rowId xmlns:a16="http://schemas.microsoft.com/office/drawing/2014/main" val="10007"/>
                  </a:ext>
                </a:extLst>
              </a:tr>
              <a:tr h="392727">
                <a:tc>
                  <a:txBody>
                    <a:bodyPr/>
                    <a:lstStyle/>
                    <a:p>
                      <a:r>
                        <a:rPr sz="1500"/>
                        <a:t>Mixed precision</a:t>
                      </a:r>
                    </a:p>
                  </a:txBody>
                  <a:tcPr/>
                </a:tc>
                <a:tc>
                  <a:txBody>
                    <a:bodyPr/>
                    <a:lstStyle/>
                    <a:p>
                      <a:r>
                        <a:rPr sz="1500"/>
                        <a:t>fp16 (AMP), loss in fp32</a:t>
                      </a:r>
                    </a:p>
                  </a:txBody>
                  <a:tcPr/>
                </a:tc>
                <a:extLst>
                  <a:ext uri="{0D108BD9-81ED-4DB2-BD59-A6C34878D82A}">
                    <a16:rowId xmlns:a16="http://schemas.microsoft.com/office/drawing/2014/main" val="10008"/>
                  </a:ext>
                </a:extLst>
              </a:tr>
              <a:tr h="392727">
                <a:tc>
                  <a:txBody>
                    <a:bodyPr/>
                    <a:lstStyle/>
                    <a:p>
                      <a:r>
                        <a:rPr sz="1500"/>
                        <a:t>Gradient clip</a:t>
                      </a:r>
                    </a:p>
                  </a:txBody>
                  <a:tcPr/>
                </a:tc>
                <a:tc>
                  <a:txBody>
                    <a:bodyPr/>
                    <a:lstStyle/>
                    <a:p>
                      <a:r>
                        <a:rPr sz="1500"/>
                        <a:t>L2 norm 1</a:t>
                      </a:r>
                    </a:p>
                  </a:txBody>
                  <a:tcPr/>
                </a:tc>
                <a:extLst>
                  <a:ext uri="{0D108BD9-81ED-4DB2-BD59-A6C34878D82A}">
                    <a16:rowId xmlns:a16="http://schemas.microsoft.com/office/drawing/2014/main" val="10009"/>
                  </a:ext>
                </a:extLst>
              </a:tr>
              <a:tr h="392730">
                <a:tc>
                  <a:txBody>
                    <a:bodyPr/>
                    <a:lstStyle/>
                    <a:p>
                      <a:r>
                        <a:rPr sz="1500"/>
                        <a:t>Seed</a:t>
                      </a:r>
                    </a:p>
                  </a:txBody>
                  <a:tcPr/>
                </a:tc>
                <a:tc>
                  <a:txBody>
                    <a:bodyPr/>
                    <a:lstStyle/>
                    <a:p>
                      <a:r>
                        <a:rPr sz="1500" dirty="0"/>
                        <a:t>42</a:t>
                      </a:r>
                    </a:p>
                  </a:txBody>
                  <a:tcPr/>
                </a:tc>
                <a:extLst>
                  <a:ext uri="{0D108BD9-81ED-4DB2-BD59-A6C34878D82A}">
                    <a16:rowId xmlns:a16="http://schemas.microsoft.com/office/drawing/2014/main" val="10010"/>
                  </a:ext>
                </a:extLst>
              </a:tr>
            </a:tbl>
          </a:graphicData>
        </a:graphic>
      </p:graphicFrame>
      <p:sp>
        <p:nvSpPr>
          <p:cNvPr id="4" name="TextBox 3"/>
          <p:cNvSpPr txBox="1"/>
          <p:nvPr/>
        </p:nvSpPr>
        <p:spPr>
          <a:xfrm>
            <a:off x="8640000" y="1440000"/>
            <a:ext cx="3060000" cy="4986000"/>
          </a:xfrm>
          <a:prstGeom prst="rect">
            <a:avLst/>
          </a:prstGeom>
          <a:noFill/>
        </p:spPr>
        <p:txBody>
          <a:bodyPr wrap="square">
            <a:spAutoFit/>
          </a:bodyPr>
          <a:lstStyle/>
          <a:p>
            <a:pPr algn="l">
              <a:spcAft>
                <a:spcPts val="600"/>
              </a:spcAft>
            </a:pPr>
            <a:r>
              <a:rPr sz="1400">
                <a:solidFill>
                  <a:srgbClr val="1A1A1A"/>
                </a:solidFill>
              </a:rPr>
              <a:t>•  All three models trained from scratch with these settings.</a:t>
            </a:r>
          </a:p>
          <a:p>
            <a:pPr algn="l">
              <a:spcAft>
                <a:spcPts val="600"/>
              </a:spcAft>
            </a:pPr>
            <a:r>
              <a:rPr sz="1400">
                <a:solidFill>
                  <a:srgbClr val="1A1A1A"/>
                </a:solidFill>
              </a:rPr>
              <a:t>•  Only the convolution operator differs.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0000" y="216000"/>
            <a:ext cx="11472119" cy="576000"/>
          </a:xfrm>
          <a:prstGeom prst="rect">
            <a:avLst/>
          </a:prstGeom>
          <a:noFill/>
        </p:spPr>
        <p:txBody>
          <a:bodyPr wrap="square">
            <a:spAutoFit/>
          </a:bodyPr>
          <a:lstStyle/>
          <a:p>
            <a:pPr algn="l"/>
            <a:r>
              <a:rPr sz="3200" b="1">
                <a:solidFill>
                  <a:srgbClr val="103266"/>
                </a:solidFill>
              </a:rPr>
              <a:t>Evaluation pipeline</a:t>
            </a:r>
          </a:p>
        </p:txBody>
      </p:sp>
      <p:sp>
        <p:nvSpPr>
          <p:cNvPr id="3" name="TextBox 2"/>
          <p:cNvSpPr txBox="1"/>
          <p:nvPr/>
        </p:nvSpPr>
        <p:spPr>
          <a:xfrm>
            <a:off x="432000" y="936000"/>
            <a:ext cx="11328119" cy="5490000"/>
          </a:xfrm>
          <a:prstGeom prst="rect">
            <a:avLst/>
          </a:prstGeom>
          <a:noFill/>
        </p:spPr>
        <p:txBody>
          <a:bodyPr wrap="square">
            <a:spAutoFit/>
          </a:bodyPr>
          <a:lstStyle/>
          <a:p>
            <a:pPr algn="l">
              <a:spcAft>
                <a:spcPts val="600"/>
              </a:spcAft>
            </a:pPr>
            <a:r>
              <a:rPr sz="1800">
                <a:solidFill>
                  <a:srgbClr val="1A1A1A"/>
                </a:solidFill>
              </a:rPr>
              <a:t>•  1.  Deterministic test masks generated once (seed=12345).</a:t>
            </a:r>
          </a:p>
          <a:p>
            <a:pPr algn="l">
              <a:spcAft>
                <a:spcPts val="600"/>
              </a:spcAft>
            </a:pPr>
            <a:r>
              <a:rPr sz="1800">
                <a:solidFill>
                  <a:srgbClr val="1A1A1A"/>
                </a:solidFill>
              </a:rPr>
              <a:t>•  2.  Each of 3,977 test paintings × 4 damage types × 3 difficulties = 47,724 pairs.</a:t>
            </a:r>
          </a:p>
          <a:p>
            <a:pPr algn="l">
              <a:spcAft>
                <a:spcPts val="600"/>
              </a:spcAft>
            </a:pPr>
            <a:r>
              <a:rPr sz="1800">
                <a:solidFill>
                  <a:srgbClr val="1A1A1A"/>
                </a:solidFill>
              </a:rPr>
              <a:t>•  3.  Each pair processed by all three models.</a:t>
            </a:r>
          </a:p>
          <a:p>
            <a:pPr algn="l">
              <a:spcAft>
                <a:spcPts val="600"/>
              </a:spcAft>
            </a:pPr>
            <a:r>
              <a:rPr sz="1800">
                <a:solidFill>
                  <a:srgbClr val="1A1A1A"/>
                </a:solidFill>
              </a:rPr>
              <a:t>•  4.  Per-image PSNR / SSIM / LPIPS computed on composited output (hole pixels from model, valid pixels from input).</a:t>
            </a:r>
          </a:p>
          <a:p>
            <a:pPr algn="l">
              <a:spcAft>
                <a:spcPts val="600"/>
              </a:spcAft>
            </a:pPr>
            <a:r>
              <a:rPr sz="1800">
                <a:solidFill>
                  <a:srgbClr val="1A1A1A"/>
                </a:solidFill>
              </a:rPr>
              <a:t>•  5.  Per-difficulty FID computed by pooling across damage types.</a:t>
            </a:r>
          </a:p>
          <a:p>
            <a:pPr algn="l">
              <a:spcAft>
                <a:spcPts val="600"/>
              </a:spcAft>
            </a:pPr>
            <a:r>
              <a:rPr sz="1800">
                <a:solidFill>
                  <a:srgbClr val="1A1A1A"/>
                </a:solidFill>
              </a:rPr>
              <a:t>•  6.  Paired Wilcoxon signed-rank test on per-image deltas, with Bonferroni correction across the three pairwise comparisons.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0000" y="216000"/>
            <a:ext cx="11472119" cy="576000"/>
          </a:xfrm>
          <a:prstGeom prst="rect">
            <a:avLst/>
          </a:prstGeom>
          <a:noFill/>
        </p:spPr>
        <p:txBody>
          <a:bodyPr wrap="square">
            <a:spAutoFit/>
          </a:bodyPr>
          <a:lstStyle/>
          <a:p>
            <a:pPr algn="l"/>
            <a:r>
              <a:rPr sz="3200" b="1">
                <a:solidFill>
                  <a:srgbClr val="103266"/>
                </a:solidFill>
              </a:rPr>
              <a:t>Headline results — and a surprise</a:t>
            </a:r>
          </a:p>
        </p:txBody>
      </p:sp>
      <p:graphicFrame>
        <p:nvGraphicFramePr>
          <p:cNvPr id="3" name="Table 2"/>
          <p:cNvGraphicFramePr>
            <a:graphicFrameLocks noGrp="1"/>
          </p:cNvGraphicFramePr>
          <p:nvPr/>
        </p:nvGraphicFramePr>
        <p:xfrm>
          <a:off x="900000" y="1080000"/>
          <a:ext cx="10080000" cy="2160000"/>
        </p:xfrm>
        <a:graphic>
          <a:graphicData uri="http://schemas.openxmlformats.org/drawingml/2006/table">
            <a:tbl>
              <a:tblPr firstRow="1" bandRow="1">
                <a:tableStyleId>{5C22544A-7EE6-4342-B048-85BDC9FD1C3A}</a:tableStyleId>
              </a:tblPr>
              <a:tblGrid>
                <a:gridCol w="2520000">
                  <a:extLst>
                    <a:ext uri="{9D8B030D-6E8A-4147-A177-3AD203B41FA5}">
                      <a16:colId xmlns:a16="http://schemas.microsoft.com/office/drawing/2014/main" val="20000"/>
                    </a:ext>
                  </a:extLst>
                </a:gridCol>
                <a:gridCol w="2520000">
                  <a:extLst>
                    <a:ext uri="{9D8B030D-6E8A-4147-A177-3AD203B41FA5}">
                      <a16:colId xmlns:a16="http://schemas.microsoft.com/office/drawing/2014/main" val="20001"/>
                    </a:ext>
                  </a:extLst>
                </a:gridCol>
                <a:gridCol w="2520000">
                  <a:extLst>
                    <a:ext uri="{9D8B030D-6E8A-4147-A177-3AD203B41FA5}">
                      <a16:colId xmlns:a16="http://schemas.microsoft.com/office/drawing/2014/main" val="20002"/>
                    </a:ext>
                  </a:extLst>
                </a:gridCol>
                <a:gridCol w="2520000">
                  <a:extLst>
                    <a:ext uri="{9D8B030D-6E8A-4147-A177-3AD203B41FA5}">
                      <a16:colId xmlns:a16="http://schemas.microsoft.com/office/drawing/2014/main" val="20003"/>
                    </a:ext>
                  </a:extLst>
                </a:gridCol>
              </a:tblGrid>
              <a:tr h="540000">
                <a:tc>
                  <a:txBody>
                    <a:bodyPr/>
                    <a:lstStyle/>
                    <a:p>
                      <a:r>
                        <a:rPr sz="2200" b="1">
                          <a:solidFill>
                            <a:srgbClr val="FFFFFF"/>
                          </a:solidFill>
                        </a:rPr>
                        <a:t>Model</a:t>
                      </a:r>
                    </a:p>
                  </a:txBody>
                  <a:tcPr>
                    <a:solidFill>
                      <a:srgbClr val="103266"/>
                    </a:solidFill>
                  </a:tcPr>
                </a:tc>
                <a:tc>
                  <a:txBody>
                    <a:bodyPr/>
                    <a:lstStyle/>
                    <a:p>
                      <a:r>
                        <a:rPr sz="2200" b="1">
                          <a:solidFill>
                            <a:srgbClr val="FFFFFF"/>
                          </a:solidFill>
                        </a:rPr>
                        <a:t>PSNR ↑</a:t>
                      </a:r>
                    </a:p>
                  </a:txBody>
                  <a:tcPr>
                    <a:solidFill>
                      <a:srgbClr val="103266"/>
                    </a:solidFill>
                  </a:tcPr>
                </a:tc>
                <a:tc>
                  <a:txBody>
                    <a:bodyPr/>
                    <a:lstStyle/>
                    <a:p>
                      <a:r>
                        <a:rPr sz="2200" b="1">
                          <a:solidFill>
                            <a:srgbClr val="FFFFFF"/>
                          </a:solidFill>
                        </a:rPr>
                        <a:t>SSIM ↑</a:t>
                      </a:r>
                    </a:p>
                  </a:txBody>
                  <a:tcPr>
                    <a:solidFill>
                      <a:srgbClr val="103266"/>
                    </a:solidFill>
                  </a:tcPr>
                </a:tc>
                <a:tc>
                  <a:txBody>
                    <a:bodyPr/>
                    <a:lstStyle/>
                    <a:p>
                      <a:r>
                        <a:rPr sz="2200" b="1">
                          <a:solidFill>
                            <a:srgbClr val="FFFFFF"/>
                          </a:solidFill>
                        </a:rPr>
                        <a:t>LPIPS ↓</a:t>
                      </a:r>
                    </a:p>
                  </a:txBody>
                  <a:tcPr>
                    <a:solidFill>
                      <a:srgbClr val="103266"/>
                    </a:solidFill>
                  </a:tcPr>
                </a:tc>
                <a:extLst>
                  <a:ext uri="{0D108BD9-81ED-4DB2-BD59-A6C34878D82A}">
                    <a16:rowId xmlns:a16="http://schemas.microsoft.com/office/drawing/2014/main" val="10000"/>
                  </a:ext>
                </a:extLst>
              </a:tr>
              <a:tr h="540000">
                <a:tc>
                  <a:txBody>
                    <a:bodyPr/>
                    <a:lstStyle/>
                    <a:p>
                      <a:r>
                        <a:rPr sz="2200"/>
                        <a:t>Gated U-Net</a:t>
                      </a:r>
                    </a:p>
                  </a:txBody>
                  <a:tcPr/>
                </a:tc>
                <a:tc>
                  <a:txBody>
                    <a:bodyPr/>
                    <a:lstStyle/>
                    <a:p>
                      <a:r>
                        <a:rPr sz="2200"/>
                        <a:t>30.37</a:t>
                      </a:r>
                    </a:p>
                  </a:txBody>
                  <a:tcPr/>
                </a:tc>
                <a:tc>
                  <a:txBody>
                    <a:bodyPr/>
                    <a:lstStyle/>
                    <a:p>
                      <a:r>
                        <a:rPr sz="2200"/>
                        <a:t>0.896</a:t>
                      </a:r>
                    </a:p>
                  </a:txBody>
                  <a:tcPr/>
                </a:tc>
                <a:tc>
                  <a:txBody>
                    <a:bodyPr/>
                    <a:lstStyle/>
                    <a:p>
                      <a:r>
                        <a:rPr sz="2200"/>
                        <a:t>0.072</a:t>
                      </a:r>
                    </a:p>
                  </a:txBody>
                  <a:tcPr/>
                </a:tc>
                <a:extLst>
                  <a:ext uri="{0D108BD9-81ED-4DB2-BD59-A6C34878D82A}">
                    <a16:rowId xmlns:a16="http://schemas.microsoft.com/office/drawing/2014/main" val="10001"/>
                  </a:ext>
                </a:extLst>
              </a:tr>
              <a:tr h="540000">
                <a:tc>
                  <a:txBody>
                    <a:bodyPr/>
                    <a:lstStyle/>
                    <a:p>
                      <a:r>
                        <a:rPr sz="2200"/>
                        <a:t>Vanilla U-Net</a:t>
                      </a:r>
                    </a:p>
                  </a:txBody>
                  <a:tcPr/>
                </a:tc>
                <a:tc>
                  <a:txBody>
                    <a:bodyPr/>
                    <a:lstStyle/>
                    <a:p>
                      <a:r>
                        <a:rPr sz="2200"/>
                        <a:t>29.92</a:t>
                      </a:r>
                    </a:p>
                  </a:txBody>
                  <a:tcPr/>
                </a:tc>
                <a:tc>
                  <a:txBody>
                    <a:bodyPr/>
                    <a:lstStyle/>
                    <a:p>
                      <a:r>
                        <a:rPr sz="2200"/>
                        <a:t>0.887</a:t>
                      </a:r>
                    </a:p>
                  </a:txBody>
                  <a:tcPr/>
                </a:tc>
                <a:tc>
                  <a:txBody>
                    <a:bodyPr/>
                    <a:lstStyle/>
                    <a:p>
                      <a:r>
                        <a:rPr sz="2200"/>
                        <a:t>0.080</a:t>
                      </a:r>
                    </a:p>
                  </a:txBody>
                  <a:tcPr/>
                </a:tc>
                <a:extLst>
                  <a:ext uri="{0D108BD9-81ED-4DB2-BD59-A6C34878D82A}">
                    <a16:rowId xmlns:a16="http://schemas.microsoft.com/office/drawing/2014/main" val="10002"/>
                  </a:ext>
                </a:extLst>
              </a:tr>
              <a:tr h="540000">
                <a:tc>
                  <a:txBody>
                    <a:bodyPr/>
                    <a:lstStyle/>
                    <a:p>
                      <a:r>
                        <a:rPr sz="2200"/>
                        <a:t>PConv U-Net</a:t>
                      </a:r>
                    </a:p>
                  </a:txBody>
                  <a:tcPr/>
                </a:tc>
                <a:tc>
                  <a:txBody>
                    <a:bodyPr/>
                    <a:lstStyle/>
                    <a:p>
                      <a:r>
                        <a:rPr sz="2200"/>
                        <a:t>28.18</a:t>
                      </a:r>
                    </a:p>
                  </a:txBody>
                  <a:tcPr/>
                </a:tc>
                <a:tc>
                  <a:txBody>
                    <a:bodyPr/>
                    <a:lstStyle/>
                    <a:p>
                      <a:r>
                        <a:rPr sz="2200"/>
                        <a:t>0.853</a:t>
                      </a:r>
                    </a:p>
                  </a:txBody>
                  <a:tcPr/>
                </a:tc>
                <a:tc>
                  <a:txBody>
                    <a:bodyPr/>
                    <a:lstStyle/>
                    <a:p>
                      <a:r>
                        <a:rPr sz="2200"/>
                        <a:t>0.106</a:t>
                      </a:r>
                    </a:p>
                  </a:txBody>
                  <a:tcPr/>
                </a:tc>
                <a:extLst>
                  <a:ext uri="{0D108BD9-81ED-4DB2-BD59-A6C34878D82A}">
                    <a16:rowId xmlns:a16="http://schemas.microsoft.com/office/drawing/2014/main" val="10003"/>
                  </a:ext>
                </a:extLst>
              </a:tr>
            </a:tbl>
          </a:graphicData>
        </a:graphic>
      </p:graphicFrame>
      <p:sp>
        <p:nvSpPr>
          <p:cNvPr id="4" name="TextBox 3"/>
          <p:cNvSpPr txBox="1"/>
          <p:nvPr/>
        </p:nvSpPr>
        <p:spPr>
          <a:xfrm>
            <a:off x="900000" y="4140000"/>
            <a:ext cx="10080000" cy="2286000"/>
          </a:xfrm>
          <a:prstGeom prst="rect">
            <a:avLst/>
          </a:prstGeom>
          <a:noFill/>
        </p:spPr>
        <p:txBody>
          <a:bodyPr wrap="square">
            <a:spAutoFit/>
          </a:bodyPr>
          <a:lstStyle/>
          <a:p>
            <a:pPr algn="l">
              <a:spcAft>
                <a:spcPts val="600"/>
              </a:spcAft>
            </a:pPr>
            <a:r>
              <a:rPr sz="2000">
                <a:solidFill>
                  <a:srgbClr val="1A1A1A"/>
                </a:solidFill>
              </a:rPr>
              <a:t>•  Gated U-Net wins on all three metrics.</a:t>
            </a:r>
          </a:p>
          <a:p>
            <a:pPr algn="l">
              <a:spcAft>
                <a:spcPts val="600"/>
              </a:spcAft>
            </a:pPr>
            <a:r>
              <a:rPr sz="2000">
                <a:solidFill>
                  <a:srgbClr val="1A1A1A"/>
                </a:solidFill>
              </a:rPr>
              <a:t>•  Vanilla U-Net second — beats PConv by 1.7 dB PSNR.</a:t>
            </a:r>
          </a:p>
          <a:p>
            <a:pPr algn="l">
              <a:spcAft>
                <a:spcPts val="600"/>
              </a:spcAft>
            </a:pPr>
            <a:r>
              <a:rPr sz="2000">
                <a:solidFill>
                  <a:srgbClr val="1A1A1A"/>
                </a:solidFill>
              </a:rPr>
              <a:t>•  PConv U-Net last — the most-cited inpainting architecture is the worst on art.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0000" y="216000"/>
            <a:ext cx="11472119" cy="576000"/>
          </a:xfrm>
          <a:prstGeom prst="rect">
            <a:avLst/>
          </a:prstGeom>
          <a:noFill/>
        </p:spPr>
        <p:txBody>
          <a:bodyPr wrap="square">
            <a:spAutoFit/>
          </a:bodyPr>
          <a:lstStyle/>
          <a:p>
            <a:pPr algn="l"/>
            <a:r>
              <a:rPr sz="3200" b="1">
                <a:solidFill>
                  <a:srgbClr val="103266"/>
                </a:solidFill>
              </a:rPr>
              <a:t>Per-difficulty PSNR</a:t>
            </a:r>
          </a:p>
        </p:txBody>
      </p:sp>
      <p:graphicFrame>
        <p:nvGraphicFramePr>
          <p:cNvPr id="3" name="Table 2"/>
          <p:cNvGraphicFramePr>
            <a:graphicFrameLocks noGrp="1"/>
          </p:cNvGraphicFramePr>
          <p:nvPr/>
        </p:nvGraphicFramePr>
        <p:xfrm>
          <a:off x="900000" y="1080000"/>
          <a:ext cx="6480000" cy="2604000"/>
        </p:xfrm>
        <a:graphic>
          <a:graphicData uri="http://schemas.openxmlformats.org/drawingml/2006/table">
            <a:tbl>
              <a:tblPr firstRow="1" bandRow="1">
                <a:tableStyleId>{5C22544A-7EE6-4342-B048-85BDC9FD1C3A}</a:tableStyleId>
              </a:tblPr>
              <a:tblGrid>
                <a:gridCol w="1620000">
                  <a:extLst>
                    <a:ext uri="{9D8B030D-6E8A-4147-A177-3AD203B41FA5}">
                      <a16:colId xmlns:a16="http://schemas.microsoft.com/office/drawing/2014/main" val="20000"/>
                    </a:ext>
                  </a:extLst>
                </a:gridCol>
                <a:gridCol w="1620000">
                  <a:extLst>
                    <a:ext uri="{9D8B030D-6E8A-4147-A177-3AD203B41FA5}">
                      <a16:colId xmlns:a16="http://schemas.microsoft.com/office/drawing/2014/main" val="20001"/>
                    </a:ext>
                  </a:extLst>
                </a:gridCol>
                <a:gridCol w="1620000">
                  <a:extLst>
                    <a:ext uri="{9D8B030D-6E8A-4147-A177-3AD203B41FA5}">
                      <a16:colId xmlns:a16="http://schemas.microsoft.com/office/drawing/2014/main" val="20002"/>
                    </a:ext>
                  </a:extLst>
                </a:gridCol>
                <a:gridCol w="1620000">
                  <a:extLst>
                    <a:ext uri="{9D8B030D-6E8A-4147-A177-3AD203B41FA5}">
                      <a16:colId xmlns:a16="http://schemas.microsoft.com/office/drawing/2014/main" val="20003"/>
                    </a:ext>
                  </a:extLst>
                </a:gridCol>
              </a:tblGrid>
              <a:tr h="540000">
                <a:tc>
                  <a:txBody>
                    <a:bodyPr/>
                    <a:lstStyle/>
                    <a:p>
                      <a:r>
                        <a:rPr sz="2200" b="1">
                          <a:solidFill>
                            <a:srgbClr val="FFFFFF"/>
                          </a:solidFill>
                        </a:rPr>
                        <a:t>Model</a:t>
                      </a:r>
                    </a:p>
                  </a:txBody>
                  <a:tcPr>
                    <a:solidFill>
                      <a:srgbClr val="103266"/>
                    </a:solidFill>
                  </a:tcPr>
                </a:tc>
                <a:tc>
                  <a:txBody>
                    <a:bodyPr/>
                    <a:lstStyle/>
                    <a:p>
                      <a:r>
                        <a:rPr sz="2200" b="1">
                          <a:solidFill>
                            <a:srgbClr val="FFFFFF"/>
                          </a:solidFill>
                        </a:rPr>
                        <a:t>Light</a:t>
                      </a:r>
                    </a:p>
                  </a:txBody>
                  <a:tcPr>
                    <a:solidFill>
                      <a:srgbClr val="103266"/>
                    </a:solidFill>
                  </a:tcPr>
                </a:tc>
                <a:tc>
                  <a:txBody>
                    <a:bodyPr/>
                    <a:lstStyle/>
                    <a:p>
                      <a:r>
                        <a:rPr sz="2200" b="1">
                          <a:solidFill>
                            <a:srgbClr val="FFFFFF"/>
                          </a:solidFill>
                        </a:rPr>
                        <a:t>Medium</a:t>
                      </a:r>
                    </a:p>
                  </a:txBody>
                  <a:tcPr>
                    <a:solidFill>
                      <a:srgbClr val="103266"/>
                    </a:solidFill>
                  </a:tcPr>
                </a:tc>
                <a:tc>
                  <a:txBody>
                    <a:bodyPr/>
                    <a:lstStyle/>
                    <a:p>
                      <a:r>
                        <a:rPr sz="2200" b="1">
                          <a:solidFill>
                            <a:srgbClr val="FFFFFF"/>
                          </a:solidFill>
                        </a:rPr>
                        <a:t>Heavy</a:t>
                      </a:r>
                    </a:p>
                  </a:txBody>
                  <a:tcPr>
                    <a:solidFill>
                      <a:srgbClr val="103266"/>
                    </a:solidFill>
                  </a:tcPr>
                </a:tc>
                <a:extLst>
                  <a:ext uri="{0D108BD9-81ED-4DB2-BD59-A6C34878D82A}">
                    <a16:rowId xmlns:a16="http://schemas.microsoft.com/office/drawing/2014/main" val="10000"/>
                  </a:ext>
                </a:extLst>
              </a:tr>
              <a:tr h="540000">
                <a:tc>
                  <a:txBody>
                    <a:bodyPr/>
                    <a:lstStyle/>
                    <a:p>
                      <a:r>
                        <a:rPr sz="2200"/>
                        <a:t>Gated U-Net</a:t>
                      </a:r>
                    </a:p>
                  </a:txBody>
                  <a:tcPr/>
                </a:tc>
                <a:tc>
                  <a:txBody>
                    <a:bodyPr/>
                    <a:lstStyle/>
                    <a:p>
                      <a:r>
                        <a:rPr sz="2200"/>
                        <a:t>35.10</a:t>
                      </a:r>
                    </a:p>
                  </a:txBody>
                  <a:tcPr/>
                </a:tc>
                <a:tc>
                  <a:txBody>
                    <a:bodyPr/>
                    <a:lstStyle/>
                    <a:p>
                      <a:r>
                        <a:rPr sz="2200"/>
                        <a:t>29.85</a:t>
                      </a:r>
                    </a:p>
                  </a:txBody>
                  <a:tcPr/>
                </a:tc>
                <a:tc>
                  <a:txBody>
                    <a:bodyPr/>
                    <a:lstStyle/>
                    <a:p>
                      <a:r>
                        <a:rPr sz="2200"/>
                        <a:t>26.16</a:t>
                      </a:r>
                    </a:p>
                  </a:txBody>
                  <a:tcPr/>
                </a:tc>
                <a:extLst>
                  <a:ext uri="{0D108BD9-81ED-4DB2-BD59-A6C34878D82A}">
                    <a16:rowId xmlns:a16="http://schemas.microsoft.com/office/drawing/2014/main" val="10001"/>
                  </a:ext>
                </a:extLst>
              </a:tr>
              <a:tr h="540000">
                <a:tc>
                  <a:txBody>
                    <a:bodyPr/>
                    <a:lstStyle/>
                    <a:p>
                      <a:r>
                        <a:rPr sz="2200"/>
                        <a:t>PConv U-Net</a:t>
                      </a:r>
                    </a:p>
                  </a:txBody>
                  <a:tcPr/>
                </a:tc>
                <a:tc>
                  <a:txBody>
                    <a:bodyPr/>
                    <a:lstStyle/>
                    <a:p>
                      <a:r>
                        <a:rPr sz="2200"/>
                        <a:t>31.47</a:t>
                      </a:r>
                    </a:p>
                  </a:txBody>
                  <a:tcPr/>
                </a:tc>
                <a:tc>
                  <a:txBody>
                    <a:bodyPr/>
                    <a:lstStyle/>
                    <a:p>
                      <a:r>
                        <a:rPr sz="2200"/>
                        <a:t>28.27</a:t>
                      </a:r>
                    </a:p>
                  </a:txBody>
                  <a:tcPr/>
                </a:tc>
                <a:tc>
                  <a:txBody>
                    <a:bodyPr/>
                    <a:lstStyle/>
                    <a:p>
                      <a:r>
                        <a:rPr sz="2200"/>
                        <a:t>24.80</a:t>
                      </a:r>
                    </a:p>
                  </a:txBody>
                  <a:tcPr/>
                </a:tc>
                <a:extLst>
                  <a:ext uri="{0D108BD9-81ED-4DB2-BD59-A6C34878D82A}">
                    <a16:rowId xmlns:a16="http://schemas.microsoft.com/office/drawing/2014/main" val="10002"/>
                  </a:ext>
                </a:extLst>
              </a:tr>
              <a:tr h="540000">
                <a:tc>
                  <a:txBody>
                    <a:bodyPr/>
                    <a:lstStyle/>
                    <a:p>
                      <a:r>
                        <a:rPr sz="2200"/>
                        <a:t>Vanilla U-Net</a:t>
                      </a:r>
                    </a:p>
                  </a:txBody>
                  <a:tcPr/>
                </a:tc>
                <a:tc>
                  <a:txBody>
                    <a:bodyPr/>
                    <a:lstStyle/>
                    <a:p>
                      <a:r>
                        <a:rPr sz="2200"/>
                        <a:t>34.57</a:t>
                      </a:r>
                    </a:p>
                  </a:txBody>
                  <a:tcPr/>
                </a:tc>
                <a:tc>
                  <a:txBody>
                    <a:bodyPr/>
                    <a:lstStyle/>
                    <a:p>
                      <a:r>
                        <a:rPr sz="2200"/>
                        <a:t>29.47</a:t>
                      </a:r>
                    </a:p>
                  </a:txBody>
                  <a:tcPr/>
                </a:tc>
                <a:tc>
                  <a:txBody>
                    <a:bodyPr/>
                    <a:lstStyle/>
                    <a:p>
                      <a:r>
                        <a:rPr sz="2200"/>
                        <a:t>25.72</a:t>
                      </a:r>
                    </a:p>
                  </a:txBody>
                  <a:tcPr/>
                </a:tc>
                <a:extLst>
                  <a:ext uri="{0D108BD9-81ED-4DB2-BD59-A6C34878D82A}">
                    <a16:rowId xmlns:a16="http://schemas.microsoft.com/office/drawing/2014/main" val="10003"/>
                  </a:ext>
                </a:extLst>
              </a:tr>
            </a:tbl>
          </a:graphicData>
        </a:graphic>
      </p:graphicFrame>
      <p:pic>
        <p:nvPicPr>
          <p:cNvPr id="4" name="Picture 3" descr="fig1_psnr.png"/>
          <p:cNvPicPr>
            <a:picLocks noChangeAspect="1"/>
          </p:cNvPicPr>
          <p:nvPr/>
        </p:nvPicPr>
        <p:blipFill>
          <a:blip r:embed="rId3"/>
          <a:stretch>
            <a:fillRect/>
          </a:stretch>
        </p:blipFill>
        <p:spPr>
          <a:xfrm>
            <a:off x="7920000" y="972000"/>
            <a:ext cx="3600000" cy="2250000"/>
          </a:xfrm>
          <a:prstGeom prst="rect">
            <a:avLst/>
          </a:prstGeom>
        </p:spPr>
      </p:pic>
      <p:sp>
        <p:nvSpPr>
          <p:cNvPr id="5" name="TextBox 4"/>
          <p:cNvSpPr txBox="1"/>
          <p:nvPr/>
        </p:nvSpPr>
        <p:spPr>
          <a:xfrm>
            <a:off x="900000" y="4140000"/>
            <a:ext cx="6480000" cy="2286000"/>
          </a:xfrm>
          <a:prstGeom prst="rect">
            <a:avLst/>
          </a:prstGeom>
          <a:noFill/>
        </p:spPr>
        <p:txBody>
          <a:bodyPr wrap="square">
            <a:spAutoFit/>
          </a:bodyPr>
          <a:lstStyle/>
          <a:p>
            <a:pPr algn="l">
              <a:spcAft>
                <a:spcPts val="600"/>
              </a:spcAft>
            </a:pPr>
            <a:r>
              <a:rPr sz="1800">
                <a:solidFill>
                  <a:srgbClr val="1A1A1A"/>
                </a:solidFill>
              </a:rPr>
              <a:t>•  Ranking Gated &gt; Vanilla &gt; PConv holds for every difficulty.</a:t>
            </a:r>
          </a:p>
          <a:p>
            <a:pPr algn="l">
              <a:spcAft>
                <a:spcPts val="600"/>
              </a:spcAft>
            </a:pPr>
            <a:r>
              <a:rPr sz="1800">
                <a:solidFill>
                  <a:srgbClr val="1A1A1A"/>
                </a:solidFill>
              </a:rPr>
              <a:t>•  All models degrade by ~6 dB from light to heavy.</a:t>
            </a:r>
          </a:p>
          <a:p>
            <a:pPr algn="l">
              <a:spcAft>
                <a:spcPts val="600"/>
              </a:spcAft>
            </a:pPr>
            <a:r>
              <a:rPr sz="1800">
                <a:solidFill>
                  <a:srgbClr val="1A1A1A"/>
                </a:solidFill>
              </a:rPr>
              <a:t>•  Gated–Vanilla gap narrows on heavy damage.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0000" y="216000"/>
            <a:ext cx="11472119" cy="576000"/>
          </a:xfrm>
          <a:prstGeom prst="rect">
            <a:avLst/>
          </a:prstGeom>
          <a:noFill/>
        </p:spPr>
        <p:txBody>
          <a:bodyPr wrap="square">
            <a:spAutoFit/>
          </a:bodyPr>
          <a:lstStyle/>
          <a:p>
            <a:pPr algn="l"/>
            <a:r>
              <a:rPr sz="3200" b="1">
                <a:solidFill>
                  <a:srgbClr val="103266"/>
                </a:solidFill>
              </a:rPr>
              <a:t>Per-damage-type PSNR</a:t>
            </a:r>
          </a:p>
        </p:txBody>
      </p:sp>
      <p:graphicFrame>
        <p:nvGraphicFramePr>
          <p:cNvPr id="3" name="Table 2"/>
          <p:cNvGraphicFramePr>
            <a:graphicFrameLocks noGrp="1"/>
          </p:cNvGraphicFramePr>
          <p:nvPr/>
        </p:nvGraphicFramePr>
        <p:xfrm>
          <a:off x="900000" y="1080000"/>
          <a:ext cx="7920000" cy="2826000"/>
        </p:xfrm>
        <a:graphic>
          <a:graphicData uri="http://schemas.openxmlformats.org/drawingml/2006/table">
            <a:tbl>
              <a:tblPr firstRow="1" bandRow="1">
                <a:tableStyleId>{5C22544A-7EE6-4342-B048-85BDC9FD1C3A}</a:tableStyleId>
              </a:tblPr>
              <a:tblGrid>
                <a:gridCol w="1584000">
                  <a:extLst>
                    <a:ext uri="{9D8B030D-6E8A-4147-A177-3AD203B41FA5}">
                      <a16:colId xmlns:a16="http://schemas.microsoft.com/office/drawing/2014/main" val="20000"/>
                    </a:ext>
                  </a:extLst>
                </a:gridCol>
                <a:gridCol w="1584000">
                  <a:extLst>
                    <a:ext uri="{9D8B030D-6E8A-4147-A177-3AD203B41FA5}">
                      <a16:colId xmlns:a16="http://schemas.microsoft.com/office/drawing/2014/main" val="20001"/>
                    </a:ext>
                  </a:extLst>
                </a:gridCol>
                <a:gridCol w="1584000">
                  <a:extLst>
                    <a:ext uri="{9D8B030D-6E8A-4147-A177-3AD203B41FA5}">
                      <a16:colId xmlns:a16="http://schemas.microsoft.com/office/drawing/2014/main" val="20002"/>
                    </a:ext>
                  </a:extLst>
                </a:gridCol>
                <a:gridCol w="1584000">
                  <a:extLst>
                    <a:ext uri="{9D8B030D-6E8A-4147-A177-3AD203B41FA5}">
                      <a16:colId xmlns:a16="http://schemas.microsoft.com/office/drawing/2014/main" val="20003"/>
                    </a:ext>
                  </a:extLst>
                </a:gridCol>
                <a:gridCol w="1584000">
                  <a:extLst>
                    <a:ext uri="{9D8B030D-6E8A-4147-A177-3AD203B41FA5}">
                      <a16:colId xmlns:a16="http://schemas.microsoft.com/office/drawing/2014/main" val="20004"/>
                    </a:ext>
                  </a:extLst>
                </a:gridCol>
              </a:tblGrid>
              <a:tr h="540000">
                <a:tc>
                  <a:txBody>
                    <a:bodyPr/>
                    <a:lstStyle/>
                    <a:p>
                      <a:r>
                        <a:rPr sz="2200" b="1">
                          <a:solidFill>
                            <a:srgbClr val="FFFFFF"/>
                          </a:solidFill>
                        </a:rPr>
                        <a:t>Model</a:t>
                      </a:r>
                    </a:p>
                  </a:txBody>
                  <a:tcPr>
                    <a:solidFill>
                      <a:srgbClr val="103266"/>
                    </a:solidFill>
                  </a:tcPr>
                </a:tc>
                <a:tc>
                  <a:txBody>
                    <a:bodyPr/>
                    <a:lstStyle/>
                    <a:p>
                      <a:r>
                        <a:rPr sz="2200" b="1">
                          <a:solidFill>
                            <a:srgbClr val="FFFFFF"/>
                          </a:solidFill>
                        </a:rPr>
                        <a:t>Brush</a:t>
                      </a:r>
                    </a:p>
                  </a:txBody>
                  <a:tcPr>
                    <a:solidFill>
                      <a:srgbClr val="103266"/>
                    </a:solidFill>
                  </a:tcPr>
                </a:tc>
                <a:tc>
                  <a:txBody>
                    <a:bodyPr/>
                    <a:lstStyle/>
                    <a:p>
                      <a:r>
                        <a:rPr sz="2200" b="1">
                          <a:solidFill>
                            <a:srgbClr val="FFFFFF"/>
                          </a:solidFill>
                        </a:rPr>
                        <a:t>Crack</a:t>
                      </a:r>
                    </a:p>
                  </a:txBody>
                  <a:tcPr>
                    <a:solidFill>
                      <a:srgbClr val="103266"/>
                    </a:solidFill>
                  </a:tcPr>
                </a:tc>
                <a:tc>
                  <a:txBody>
                    <a:bodyPr/>
                    <a:lstStyle/>
                    <a:p>
                      <a:r>
                        <a:rPr sz="2200" b="1">
                          <a:solidFill>
                            <a:srgbClr val="FFFFFF"/>
                          </a:solidFill>
                        </a:rPr>
                        <a:t>Paint loss</a:t>
                      </a:r>
                    </a:p>
                  </a:txBody>
                  <a:tcPr>
                    <a:solidFill>
                      <a:srgbClr val="103266"/>
                    </a:solidFill>
                  </a:tcPr>
                </a:tc>
                <a:tc>
                  <a:txBody>
                    <a:bodyPr/>
                    <a:lstStyle/>
                    <a:p>
                      <a:r>
                        <a:rPr sz="2200" b="1">
                          <a:solidFill>
                            <a:srgbClr val="FFFFFF"/>
                          </a:solidFill>
                        </a:rPr>
                        <a:t>Stain</a:t>
                      </a:r>
                    </a:p>
                  </a:txBody>
                  <a:tcPr>
                    <a:solidFill>
                      <a:srgbClr val="103266"/>
                    </a:solidFill>
                  </a:tcPr>
                </a:tc>
                <a:extLst>
                  <a:ext uri="{0D108BD9-81ED-4DB2-BD59-A6C34878D82A}">
                    <a16:rowId xmlns:a16="http://schemas.microsoft.com/office/drawing/2014/main" val="10000"/>
                  </a:ext>
                </a:extLst>
              </a:tr>
              <a:tr h="540000">
                <a:tc>
                  <a:txBody>
                    <a:bodyPr/>
                    <a:lstStyle/>
                    <a:p>
                      <a:r>
                        <a:rPr sz="2200"/>
                        <a:t>Gated U-Net</a:t>
                      </a:r>
                    </a:p>
                  </a:txBody>
                  <a:tcPr/>
                </a:tc>
                <a:tc>
                  <a:txBody>
                    <a:bodyPr/>
                    <a:lstStyle/>
                    <a:p>
                      <a:r>
                        <a:rPr sz="2200"/>
                        <a:t>32.58</a:t>
                      </a:r>
                    </a:p>
                  </a:txBody>
                  <a:tcPr/>
                </a:tc>
                <a:tc>
                  <a:txBody>
                    <a:bodyPr/>
                    <a:lstStyle/>
                    <a:p>
                      <a:r>
                        <a:rPr sz="2200"/>
                        <a:t>33.60</a:t>
                      </a:r>
                    </a:p>
                  </a:txBody>
                  <a:tcPr/>
                </a:tc>
                <a:tc>
                  <a:txBody>
                    <a:bodyPr/>
                    <a:lstStyle/>
                    <a:p>
                      <a:r>
                        <a:rPr sz="2200"/>
                        <a:t>27.60</a:t>
                      </a:r>
                    </a:p>
                  </a:txBody>
                  <a:tcPr/>
                </a:tc>
                <a:tc>
                  <a:txBody>
                    <a:bodyPr/>
                    <a:lstStyle/>
                    <a:p>
                      <a:r>
                        <a:rPr sz="2200"/>
                        <a:t>27.69</a:t>
                      </a:r>
                    </a:p>
                  </a:txBody>
                  <a:tcPr/>
                </a:tc>
                <a:extLst>
                  <a:ext uri="{0D108BD9-81ED-4DB2-BD59-A6C34878D82A}">
                    <a16:rowId xmlns:a16="http://schemas.microsoft.com/office/drawing/2014/main" val="10001"/>
                  </a:ext>
                </a:extLst>
              </a:tr>
              <a:tr h="540000">
                <a:tc>
                  <a:txBody>
                    <a:bodyPr/>
                    <a:lstStyle/>
                    <a:p>
                      <a:r>
                        <a:rPr sz="2200"/>
                        <a:t>PConv U-Net</a:t>
                      </a:r>
                    </a:p>
                  </a:txBody>
                  <a:tcPr/>
                </a:tc>
                <a:tc>
                  <a:txBody>
                    <a:bodyPr/>
                    <a:lstStyle/>
                    <a:p>
                      <a:r>
                        <a:rPr sz="2200"/>
                        <a:t>30.47</a:t>
                      </a:r>
                    </a:p>
                  </a:txBody>
                  <a:tcPr/>
                </a:tc>
                <a:tc>
                  <a:txBody>
                    <a:bodyPr/>
                    <a:lstStyle/>
                    <a:p>
                      <a:r>
                        <a:rPr sz="2200"/>
                        <a:t>29.96</a:t>
                      </a:r>
                    </a:p>
                  </a:txBody>
                  <a:tcPr/>
                </a:tc>
                <a:tc>
                  <a:txBody>
                    <a:bodyPr/>
                    <a:lstStyle/>
                    <a:p>
                      <a:r>
                        <a:rPr sz="2200"/>
                        <a:t>26.09</a:t>
                      </a:r>
                    </a:p>
                  </a:txBody>
                  <a:tcPr/>
                </a:tc>
                <a:tc>
                  <a:txBody>
                    <a:bodyPr/>
                    <a:lstStyle/>
                    <a:p>
                      <a:r>
                        <a:rPr sz="2200"/>
                        <a:t>26.18</a:t>
                      </a:r>
                    </a:p>
                  </a:txBody>
                  <a:tcPr/>
                </a:tc>
                <a:extLst>
                  <a:ext uri="{0D108BD9-81ED-4DB2-BD59-A6C34878D82A}">
                    <a16:rowId xmlns:a16="http://schemas.microsoft.com/office/drawing/2014/main" val="10002"/>
                  </a:ext>
                </a:extLst>
              </a:tr>
              <a:tr h="540000">
                <a:tc>
                  <a:txBody>
                    <a:bodyPr/>
                    <a:lstStyle/>
                    <a:p>
                      <a:r>
                        <a:rPr sz="2200"/>
                        <a:t>Vanilla U-Net</a:t>
                      </a:r>
                    </a:p>
                  </a:txBody>
                  <a:tcPr/>
                </a:tc>
                <a:tc>
                  <a:txBody>
                    <a:bodyPr/>
                    <a:lstStyle/>
                    <a:p>
                      <a:r>
                        <a:rPr sz="2200"/>
                        <a:t>31.92</a:t>
                      </a:r>
                    </a:p>
                  </a:txBody>
                  <a:tcPr/>
                </a:tc>
                <a:tc>
                  <a:txBody>
                    <a:bodyPr/>
                    <a:lstStyle/>
                    <a:p>
                      <a:r>
                        <a:rPr sz="2200"/>
                        <a:t>32.97</a:t>
                      </a:r>
                    </a:p>
                  </a:txBody>
                  <a:tcPr/>
                </a:tc>
                <a:tc>
                  <a:txBody>
                    <a:bodyPr/>
                    <a:lstStyle/>
                    <a:p>
                      <a:r>
                        <a:rPr sz="2200"/>
                        <a:t>27.35</a:t>
                      </a:r>
                    </a:p>
                  </a:txBody>
                  <a:tcPr/>
                </a:tc>
                <a:tc>
                  <a:txBody>
                    <a:bodyPr/>
                    <a:lstStyle/>
                    <a:p>
                      <a:r>
                        <a:rPr sz="2200"/>
                        <a:t>27.44</a:t>
                      </a:r>
                    </a:p>
                  </a:txBody>
                  <a:tcPr/>
                </a:tc>
                <a:extLst>
                  <a:ext uri="{0D108BD9-81ED-4DB2-BD59-A6C34878D82A}">
                    <a16:rowId xmlns:a16="http://schemas.microsoft.com/office/drawing/2014/main" val="10003"/>
                  </a:ext>
                </a:extLst>
              </a:tr>
            </a:tbl>
          </a:graphicData>
        </a:graphic>
      </p:graphicFrame>
      <p:sp>
        <p:nvSpPr>
          <p:cNvPr id="4" name="TextBox 3"/>
          <p:cNvSpPr txBox="1"/>
          <p:nvPr/>
        </p:nvSpPr>
        <p:spPr>
          <a:xfrm>
            <a:off x="900000" y="4140000"/>
            <a:ext cx="10440000" cy="2286000"/>
          </a:xfrm>
          <a:prstGeom prst="rect">
            <a:avLst/>
          </a:prstGeom>
          <a:noFill/>
        </p:spPr>
        <p:txBody>
          <a:bodyPr wrap="square">
            <a:spAutoFit/>
          </a:bodyPr>
          <a:lstStyle/>
          <a:p>
            <a:pPr algn="l">
              <a:spcAft>
                <a:spcPts val="600"/>
              </a:spcAft>
            </a:pPr>
            <a:r>
              <a:rPr sz="1800">
                <a:solidFill>
                  <a:srgbClr val="1A1A1A"/>
                </a:solidFill>
              </a:rPr>
              <a:t>•  Cracks and brush strokes — easiest (thin geometry, lots of valid context).</a:t>
            </a:r>
          </a:p>
          <a:p>
            <a:pPr algn="l">
              <a:spcAft>
                <a:spcPts val="600"/>
              </a:spcAft>
            </a:pPr>
            <a:r>
              <a:rPr sz="1800">
                <a:solidFill>
                  <a:srgbClr val="1A1A1A"/>
                </a:solidFill>
              </a:rPr>
              <a:t>•  Paint loss and stains — hardest (large contiguous regions).</a:t>
            </a:r>
          </a:p>
          <a:p>
            <a:pPr algn="l">
              <a:spcAft>
                <a:spcPts val="600"/>
              </a:spcAft>
            </a:pPr>
            <a:r>
              <a:rPr sz="1800">
                <a:solidFill>
                  <a:srgbClr val="1A1A1A"/>
                </a:solidFill>
              </a:rPr>
              <a:t>•  Architectural ranking is preserved in every damage cell.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0000" y="216000"/>
            <a:ext cx="11472119" cy="576000"/>
          </a:xfrm>
          <a:prstGeom prst="rect">
            <a:avLst/>
          </a:prstGeom>
          <a:noFill/>
        </p:spPr>
        <p:txBody>
          <a:bodyPr wrap="square">
            <a:spAutoFit/>
          </a:bodyPr>
          <a:lstStyle/>
          <a:p>
            <a:pPr algn="l"/>
            <a:r>
              <a:rPr sz="3200" b="1">
                <a:solidFill>
                  <a:srgbClr val="103266"/>
                </a:solidFill>
              </a:rPr>
              <a:t>Qualitative comparison</a:t>
            </a:r>
          </a:p>
        </p:txBody>
      </p:sp>
      <p:pic>
        <p:nvPicPr>
          <p:cNvPr id="3" name="Picture 2" descr="fig2_highres_comparison.jpg"/>
          <p:cNvPicPr>
            <a:picLocks noChangeAspect="1"/>
          </p:cNvPicPr>
          <p:nvPr/>
        </p:nvPicPr>
        <p:blipFill>
          <a:blip r:embed="rId3"/>
          <a:stretch>
            <a:fillRect/>
          </a:stretch>
        </p:blipFill>
        <p:spPr>
          <a:xfrm>
            <a:off x="720000" y="972000"/>
            <a:ext cx="10800000" cy="232258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0000" y="216000"/>
            <a:ext cx="11472119" cy="576000"/>
          </a:xfrm>
          <a:prstGeom prst="rect">
            <a:avLst/>
          </a:prstGeom>
          <a:noFill/>
        </p:spPr>
        <p:txBody>
          <a:bodyPr wrap="square">
            <a:spAutoFit/>
          </a:bodyPr>
          <a:lstStyle/>
          <a:p>
            <a:pPr algn="l"/>
            <a:r>
              <a:rPr sz="3200" b="1">
                <a:solidFill>
                  <a:srgbClr val="103266"/>
                </a:solidFill>
              </a:rPr>
              <a:t>Why PConv lost — three reasons</a:t>
            </a:r>
          </a:p>
        </p:txBody>
      </p:sp>
      <p:sp>
        <p:nvSpPr>
          <p:cNvPr id="3" name="TextBox 2"/>
          <p:cNvSpPr txBox="1"/>
          <p:nvPr/>
        </p:nvSpPr>
        <p:spPr>
          <a:xfrm>
            <a:off x="432000" y="936000"/>
            <a:ext cx="11328119" cy="5490000"/>
          </a:xfrm>
          <a:prstGeom prst="rect">
            <a:avLst/>
          </a:prstGeom>
          <a:noFill/>
        </p:spPr>
        <p:txBody>
          <a:bodyPr wrap="square">
            <a:spAutoFit/>
          </a:bodyPr>
          <a:lstStyle/>
          <a:p>
            <a:pPr algn="l">
              <a:spcAft>
                <a:spcPts val="600"/>
              </a:spcAft>
            </a:pPr>
            <a:r>
              <a:rPr sz="2000">
                <a:solidFill>
                  <a:srgbClr val="1A1A1A"/>
                </a:solidFill>
              </a:rPr>
              <a:t>•  Hard vs soft attention.  PConv binarises confidence early; gated conv keeps a continuous learned gate through every layer.</a:t>
            </a:r>
          </a:p>
          <a:p>
            <a:pPr algn="l">
              <a:spcAft>
                <a:spcPts val="600"/>
              </a:spcAft>
            </a:pPr>
            <a:r>
              <a:rPr sz="2000">
                <a:solidFill>
                  <a:srgbClr val="1A1A1A"/>
                </a:solidFill>
              </a:rPr>
              <a:t>•  Renormalisation artifacts.  PConv divides by valid-area, which over-amplifies on small valid neighbourhoods — visible as colour bleed at hole boundaries.</a:t>
            </a:r>
          </a:p>
          <a:p>
            <a:pPr algn="l">
              <a:spcAft>
                <a:spcPts val="600"/>
              </a:spcAft>
            </a:pPr>
            <a:r>
              <a:rPr sz="2000">
                <a:solidFill>
                  <a:srgbClr val="1A1A1A"/>
                </a:solidFill>
              </a:rPr>
              <a:t>•  Stylised data favours the simple baseline.  Mask concatenation is enough for a high-capacity U-Net to figure out the mask, given regular brushwork statistics.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0000" y="216000"/>
            <a:ext cx="11472119" cy="576000"/>
          </a:xfrm>
          <a:prstGeom prst="rect">
            <a:avLst/>
          </a:prstGeom>
          <a:noFill/>
        </p:spPr>
        <p:txBody>
          <a:bodyPr wrap="square">
            <a:spAutoFit/>
          </a:bodyPr>
          <a:lstStyle/>
          <a:p>
            <a:pPr algn="l"/>
            <a:r>
              <a:rPr sz="3200" b="1">
                <a:solidFill>
                  <a:srgbClr val="103266"/>
                </a:solidFill>
              </a:rPr>
              <a:t>Interactive demo (contribution C4)</a:t>
            </a:r>
          </a:p>
        </p:txBody>
      </p:sp>
      <p:sp>
        <p:nvSpPr>
          <p:cNvPr id="3" name="TextBox 2"/>
          <p:cNvSpPr txBox="1"/>
          <p:nvPr/>
        </p:nvSpPr>
        <p:spPr>
          <a:xfrm>
            <a:off x="432000" y="936000"/>
            <a:ext cx="11328119" cy="5490000"/>
          </a:xfrm>
          <a:prstGeom prst="rect">
            <a:avLst/>
          </a:prstGeom>
          <a:noFill/>
        </p:spPr>
        <p:txBody>
          <a:bodyPr wrap="square">
            <a:spAutoFit/>
          </a:bodyPr>
          <a:lstStyle/>
          <a:p>
            <a:pPr algn="l">
              <a:spcAft>
                <a:spcPts val="600"/>
              </a:spcAft>
            </a:pPr>
            <a:r>
              <a:rPr sz="1800">
                <a:solidFill>
                  <a:srgbClr val="1A1A1A"/>
                </a:solidFill>
              </a:rPr>
              <a:t>•  Built with Gradio; runs locally with `python demo/app.py`.</a:t>
            </a:r>
          </a:p>
          <a:p>
            <a:pPr algn="l">
              <a:spcAft>
                <a:spcPts val="600"/>
              </a:spcAft>
            </a:pPr>
            <a:r>
              <a:rPr sz="1800">
                <a:solidFill>
                  <a:srgbClr val="1A1A1A"/>
                </a:solidFill>
              </a:rPr>
              <a:t>•  Tab 1 — brush mode: upload a painting, paint over the damage with the brush tool.</a:t>
            </a:r>
          </a:p>
          <a:p>
            <a:pPr algn="l">
              <a:spcAft>
                <a:spcPts val="600"/>
              </a:spcAft>
            </a:pPr>
            <a:r>
              <a:rPr sz="1800">
                <a:solidFill>
                  <a:srgbClr val="1A1A1A"/>
                </a:solidFill>
              </a:rPr>
              <a:t>•  Tab 2 — synthetic preset: choose damage type and difficulty, the app generates the mask deterministically.</a:t>
            </a:r>
          </a:p>
          <a:p>
            <a:pPr algn="l">
              <a:spcAft>
                <a:spcPts val="600"/>
              </a:spcAft>
            </a:pPr>
            <a:r>
              <a:rPr sz="1800">
                <a:solidFill>
                  <a:srgbClr val="1A1A1A"/>
                </a:solidFill>
              </a:rPr>
              <a:t>•  All three models run in parallel; outputs displayed side-by-side with per-image PSNR / SSIM.</a:t>
            </a:r>
          </a:p>
          <a:p>
            <a:pPr algn="l">
              <a:spcAft>
                <a:spcPts val="600"/>
              </a:spcAft>
            </a:pPr>
            <a:r>
              <a:rPr sz="1800">
                <a:solidFill>
                  <a:srgbClr val="1A1A1A"/>
                </a:solidFill>
              </a:rPr>
              <a:t>•  Static benchmark panel shows test-set averages for context.</a:t>
            </a:r>
          </a:p>
          <a:p>
            <a:pPr algn="l">
              <a:spcAft>
                <a:spcPts val="600"/>
              </a:spcAft>
            </a:pPr>
            <a:r>
              <a:rPr sz="1800">
                <a:solidFill>
                  <a:srgbClr val="1A1A1A"/>
                </a:solidFill>
              </a:rPr>
              <a:t>•  First publicly-runnable art-inpainting demo, to our knowledge.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0000" y="216000"/>
            <a:ext cx="11472119" cy="584775"/>
          </a:xfrm>
          <a:prstGeom prst="rect">
            <a:avLst/>
          </a:prstGeom>
          <a:noFill/>
        </p:spPr>
        <p:txBody>
          <a:bodyPr wrap="square">
            <a:spAutoFit/>
          </a:bodyPr>
          <a:lstStyle/>
          <a:p>
            <a:pPr algn="l"/>
            <a:r>
              <a:rPr sz="3200" b="1" dirty="0">
                <a:solidFill>
                  <a:srgbClr val="103266"/>
                </a:solidFill>
              </a:rPr>
              <a:t>Conclusio</a:t>
            </a:r>
            <a:r>
              <a:rPr lang="en-US" sz="3200" b="1" dirty="0">
                <a:solidFill>
                  <a:srgbClr val="103266"/>
                </a:solidFill>
              </a:rPr>
              <a:t>n</a:t>
            </a:r>
            <a:endParaRPr sz="3200" b="1" dirty="0">
              <a:solidFill>
                <a:srgbClr val="103266"/>
              </a:solidFill>
            </a:endParaRPr>
          </a:p>
        </p:txBody>
      </p:sp>
      <p:sp>
        <p:nvSpPr>
          <p:cNvPr id="3" name="TextBox 2"/>
          <p:cNvSpPr txBox="1"/>
          <p:nvPr/>
        </p:nvSpPr>
        <p:spPr>
          <a:xfrm>
            <a:off x="432000" y="936000"/>
            <a:ext cx="11328119" cy="1077218"/>
          </a:xfrm>
          <a:prstGeom prst="rect">
            <a:avLst/>
          </a:prstGeom>
          <a:noFill/>
        </p:spPr>
        <p:txBody>
          <a:bodyPr wrap="square">
            <a:spAutoFit/>
          </a:bodyPr>
          <a:lstStyle/>
          <a:p>
            <a:pPr algn="l">
              <a:spcAft>
                <a:spcPts val="600"/>
              </a:spcAft>
            </a:pPr>
            <a:r>
              <a:rPr sz="1800" dirty="0">
                <a:solidFill>
                  <a:srgbClr val="1A1A1A"/>
                </a:solidFill>
              </a:rPr>
              <a:t>•  Gated U-Net &gt; Vanilla U-Net &gt; </a:t>
            </a:r>
            <a:r>
              <a:rPr sz="1800" dirty="0" err="1">
                <a:solidFill>
                  <a:srgbClr val="1A1A1A"/>
                </a:solidFill>
              </a:rPr>
              <a:t>PConv</a:t>
            </a:r>
            <a:r>
              <a:rPr sz="1800" dirty="0">
                <a:solidFill>
                  <a:srgbClr val="1A1A1A"/>
                </a:solidFill>
              </a:rPr>
              <a:t> U-Net on every metric, every difficulty, every damage type.</a:t>
            </a:r>
          </a:p>
          <a:p>
            <a:pPr algn="l">
              <a:spcAft>
                <a:spcPts val="600"/>
              </a:spcAft>
            </a:pPr>
            <a:r>
              <a:rPr sz="1800" dirty="0">
                <a:solidFill>
                  <a:srgbClr val="1A1A1A"/>
                </a:solidFill>
              </a:rPr>
              <a:t>•  Counter-intuitive for the inpainting community: </a:t>
            </a:r>
            <a:r>
              <a:rPr sz="1800" dirty="0" err="1">
                <a:solidFill>
                  <a:srgbClr val="1A1A1A"/>
                </a:solidFill>
              </a:rPr>
              <a:t>PConv</a:t>
            </a:r>
            <a:r>
              <a:rPr sz="1800" dirty="0">
                <a:solidFill>
                  <a:srgbClr val="1A1A1A"/>
                </a:solidFill>
              </a:rPr>
              <a:t> is not the right default for art-domain inpainting.</a:t>
            </a:r>
          </a:p>
          <a:p>
            <a:pPr algn="l">
              <a:spcAft>
                <a:spcPts val="600"/>
              </a:spcAft>
            </a:pPr>
            <a:r>
              <a:rPr sz="1800" dirty="0">
                <a:solidFill>
                  <a:srgbClr val="1A1A1A"/>
                </a:solidFill>
              </a:rPr>
              <a:t>•  Four contributions: </a:t>
            </a:r>
            <a:r>
              <a:rPr sz="1800" dirty="0" err="1">
                <a:solidFill>
                  <a:srgbClr val="1A1A1A"/>
                </a:solidFill>
              </a:rPr>
              <a:t>WikiArt</a:t>
            </a:r>
            <a:r>
              <a:rPr sz="1800" dirty="0">
                <a:solidFill>
                  <a:srgbClr val="1A1A1A"/>
                </a:solidFill>
              </a:rPr>
              <a:t> benchmark, multi-type damage masks, rigorous comparison, interactive demo.</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119" cy="6858000"/>
          </a:xfrm>
          <a:prstGeom prst="rect">
            <a:avLst/>
          </a:prstGeom>
          <a:solidFill>
            <a:srgbClr val="1032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20000" y="2160000"/>
            <a:ext cx="10752119" cy="2160000"/>
          </a:xfrm>
          <a:prstGeom prst="rect">
            <a:avLst/>
          </a:prstGeom>
          <a:noFill/>
        </p:spPr>
        <p:txBody>
          <a:bodyPr wrap="square">
            <a:spAutoFit/>
          </a:bodyPr>
          <a:lstStyle/>
          <a:p>
            <a:pPr algn="ctr"/>
            <a:r>
              <a:rPr sz="5600" b="1">
                <a:solidFill>
                  <a:srgbClr val="FFFFFF"/>
                </a:solidFill>
              </a:rPr>
              <a:t>Thank you.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2297</Words>
  <Application>Microsoft Office PowerPoint</Application>
  <PresentationFormat>Widescreen</PresentationFormat>
  <Paragraphs>187</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Erdinc Elagoz</cp:lastModifiedBy>
  <cp:revision>2</cp:revision>
  <dcterms:created xsi:type="dcterms:W3CDTF">2013-01-27T09:14:16Z</dcterms:created>
  <dcterms:modified xsi:type="dcterms:W3CDTF">2026-05-21T17:28:30Z</dcterms:modified>
  <cp:category/>
</cp:coreProperties>
</file>